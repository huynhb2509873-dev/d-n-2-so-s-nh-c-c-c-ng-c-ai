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7" r:id="rId4"/>
    <p:sldId id="260" r:id="rId5"/>
    <p:sldId id="258" r:id="rId6"/>
    <p:sldId id="272" r:id="rId7"/>
    <p:sldId id="289" r:id="rId8"/>
    <p:sldId id="277" r:id="rId9"/>
    <p:sldId id="291" r:id="rId10"/>
    <p:sldId id="273" r:id="rId11"/>
    <p:sldId id="290" r:id="rId12"/>
    <p:sldId id="288" r:id="rId13"/>
    <p:sldId id="264" r:id="rId14"/>
    <p:sldId id="265" r:id="rId15"/>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K2D" pitchFamily="2" charset="-34"/>
      <p:regular r:id="rId20"/>
      <p:bold r:id="rId21"/>
      <p:italic r:id="rId22"/>
    </p:embeddedFont>
    <p:embeddedFont>
      <p:font typeface="Poppins Medium" panose="020B0604020202020204" pitchFamily="34" charset="0"/>
      <p:regular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94635" autoAdjust="0"/>
  </p:normalViewPr>
  <p:slideViewPr>
    <p:cSldViewPr>
      <p:cViewPr varScale="1">
        <p:scale>
          <a:sx n="73" d="100"/>
          <a:sy n="73" d="100"/>
        </p:scale>
        <p:origin x="50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12F32"/>
        </a:solidFill>
        <a:effectLst/>
      </p:bgPr>
    </p:bg>
    <p:spTree>
      <p:nvGrpSpPr>
        <p:cNvPr id="1" name=""/>
        <p:cNvGrpSpPr/>
        <p:nvPr/>
      </p:nvGrpSpPr>
      <p:grpSpPr>
        <a:xfrm>
          <a:off x="0" y="0"/>
          <a:ext cx="0" cy="0"/>
          <a:chOff x="0" y="0"/>
          <a:chExt cx="0" cy="0"/>
        </a:xfrm>
      </p:grpSpPr>
      <p:sp>
        <p:nvSpPr>
          <p:cNvPr id="2" name="Freeform 2"/>
          <p:cNvSpPr/>
          <p:nvPr/>
        </p:nvSpPr>
        <p:spPr>
          <a:xfrm>
            <a:off x="1860981" y="7817285"/>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2"/>
            <a:stretch>
              <a:fillRect/>
            </a:stretch>
          </a:blipFill>
        </p:spPr>
      </p:sp>
      <p:sp>
        <p:nvSpPr>
          <p:cNvPr id="3" name="Freeform 3"/>
          <p:cNvSpPr/>
          <p:nvPr/>
        </p:nvSpPr>
        <p:spPr>
          <a:xfrm>
            <a:off x="878080" y="1401490"/>
            <a:ext cx="8118758" cy="7484019"/>
          </a:xfrm>
          <a:custGeom>
            <a:avLst/>
            <a:gdLst/>
            <a:ahLst/>
            <a:cxnLst/>
            <a:rect l="l" t="t" r="r" b="b"/>
            <a:pathLst>
              <a:path w="8118758" h="7484019">
                <a:moveTo>
                  <a:pt x="0" y="0"/>
                </a:moveTo>
                <a:lnTo>
                  <a:pt x="8118759" y="0"/>
                </a:lnTo>
                <a:lnTo>
                  <a:pt x="8118759" y="7484020"/>
                </a:lnTo>
                <a:lnTo>
                  <a:pt x="0" y="7484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799358" y="3773503"/>
            <a:ext cx="5051790" cy="7861360"/>
          </a:xfrm>
          <a:custGeom>
            <a:avLst/>
            <a:gdLst/>
            <a:ahLst/>
            <a:cxnLst/>
            <a:rect l="l" t="t" r="r" b="b"/>
            <a:pathLst>
              <a:path w="5051790" h="7861360">
                <a:moveTo>
                  <a:pt x="0" y="0"/>
                </a:moveTo>
                <a:lnTo>
                  <a:pt x="5051790" y="0"/>
                </a:lnTo>
                <a:lnTo>
                  <a:pt x="5051790" y="7861360"/>
                </a:lnTo>
                <a:lnTo>
                  <a:pt x="0" y="78613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flipH="1" flipV="1">
            <a:off x="-455035" y="-442015"/>
            <a:ext cx="3869203" cy="6021072"/>
          </a:xfrm>
          <a:custGeom>
            <a:avLst/>
            <a:gdLst/>
            <a:ahLst/>
            <a:cxnLst/>
            <a:rect l="l" t="t" r="r" b="b"/>
            <a:pathLst>
              <a:path w="3869203" h="6021072">
                <a:moveTo>
                  <a:pt x="3869203" y="6021072"/>
                </a:moveTo>
                <a:lnTo>
                  <a:pt x="0" y="6021072"/>
                </a:lnTo>
                <a:lnTo>
                  <a:pt x="0" y="0"/>
                </a:lnTo>
                <a:lnTo>
                  <a:pt x="3869203" y="0"/>
                </a:lnTo>
                <a:lnTo>
                  <a:pt x="3869203" y="6021072"/>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0053140" y="2476500"/>
            <a:ext cx="8072855" cy="4734501"/>
          </a:xfrm>
          <a:prstGeom prst="rect">
            <a:avLst/>
          </a:prstGeom>
        </p:spPr>
        <p:txBody>
          <a:bodyPr lIns="0" tIns="0" rIns="0" bIns="0" rtlCol="0" anchor="t">
            <a:spAutoFit/>
          </a:bodyPr>
          <a:lstStyle/>
          <a:p>
            <a:pPr>
              <a:lnSpc>
                <a:spcPts val="12451"/>
              </a:lnSpc>
            </a:pPr>
            <a:r>
              <a:rPr lang="en-US" sz="10000" b="1" dirty="0">
                <a:solidFill>
                  <a:schemeClr val="bg1"/>
                </a:solidFill>
                <a:latin typeface="Arial Rounded MT Bold" panose="020F0704030504030204" pitchFamily="34" charset="77"/>
                <a:ea typeface="League Spartan"/>
                <a:cs typeface="Times New Roman" panose="02020603050405020304" pitchFamily="18" charset="0"/>
                <a:sym typeface="League Spartan"/>
              </a:rPr>
              <a:t>SO SÁNH CÁC CÔNG CỤ </a:t>
            </a:r>
            <a:r>
              <a:rPr lang="en-US" sz="10000" b="1" dirty="0">
                <a:solidFill>
                  <a:srgbClr val="7030A0"/>
                </a:solidFill>
                <a:latin typeface="Arial Rounded MT Bold" panose="020F0704030504030204" pitchFamily="34" charset="77"/>
                <a:ea typeface="League Spartan"/>
                <a:cs typeface="Times New Roman" panose="02020603050405020304" pitchFamily="18" charset="0"/>
                <a:sym typeface="League Spartan"/>
              </a:rPr>
              <a:t>AI</a:t>
            </a:r>
          </a:p>
        </p:txBody>
      </p:sp>
      <p:sp>
        <p:nvSpPr>
          <p:cNvPr id="7" name="Freeform 7"/>
          <p:cNvSpPr/>
          <p:nvPr/>
        </p:nvSpPr>
        <p:spPr>
          <a:xfrm rot="-10800000">
            <a:off x="9337065" y="7876373"/>
            <a:ext cx="1432149" cy="473911"/>
          </a:xfrm>
          <a:custGeom>
            <a:avLst/>
            <a:gdLst/>
            <a:ahLst/>
            <a:cxnLst/>
            <a:rect l="l" t="t" r="r" b="b"/>
            <a:pathLst>
              <a:path w="1432149" h="473911">
                <a:moveTo>
                  <a:pt x="0" y="0"/>
                </a:moveTo>
                <a:lnTo>
                  <a:pt x="1432149" y="0"/>
                </a:lnTo>
                <a:lnTo>
                  <a:pt x="1432149" y="473911"/>
                </a:lnTo>
                <a:lnTo>
                  <a:pt x="0" y="4739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Freeform 9"/>
          <p:cNvSpPr/>
          <p:nvPr/>
        </p:nvSpPr>
        <p:spPr>
          <a:xfrm>
            <a:off x="16525278" y="913053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947307" y="-154107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TextBox 11">
            <a:extLst>
              <a:ext uri="{FF2B5EF4-FFF2-40B4-BE49-F238E27FC236}">
                <a16:creationId xmlns:a16="http://schemas.microsoft.com/office/drawing/2014/main" id="{C2C3AE16-4ECA-A84C-ADAF-DC3C5E4146F3}"/>
              </a:ext>
            </a:extLst>
          </p:cNvPr>
          <p:cNvSpPr txBox="1"/>
          <p:nvPr/>
        </p:nvSpPr>
        <p:spPr>
          <a:xfrm>
            <a:off x="899568" y="8598409"/>
            <a:ext cx="5029200" cy="1477328"/>
          </a:xfrm>
          <a:prstGeom prst="rect">
            <a:avLst/>
          </a:prstGeom>
          <a:noFill/>
        </p:spPr>
        <p:txBody>
          <a:bodyPr wrap="square" rtlCol="0">
            <a:spAutoFit/>
          </a:bodyPr>
          <a:lstStyle/>
          <a:p>
            <a:r>
              <a:rPr lang="en-VN" sz="3000" dirty="0">
                <a:solidFill>
                  <a:srgbClr val="00B0F0"/>
                </a:solidFill>
                <a:latin typeface="Arial Rounded MT Bold" panose="020F0704030504030204" pitchFamily="34" charset="77"/>
              </a:rPr>
              <a:t>THÀNH VIÊN :</a:t>
            </a:r>
          </a:p>
          <a:p>
            <a:r>
              <a:rPr lang="en-VN" sz="3000" dirty="0">
                <a:solidFill>
                  <a:srgbClr val="00B0F0"/>
                </a:solidFill>
                <a:latin typeface="Arial Rounded MT Bold" panose="020F0704030504030204" pitchFamily="34" charset="77"/>
              </a:rPr>
              <a:t>LÊ TRẦN PHƯƠNG HUỲNH</a:t>
            </a:r>
          </a:p>
          <a:p>
            <a:r>
              <a:rPr lang="en-VN" sz="3000" dirty="0">
                <a:solidFill>
                  <a:srgbClr val="00B0F0"/>
                </a:solidFill>
                <a:latin typeface="Arial Rounded MT Bold" panose="020F0704030504030204" pitchFamily="34" charset="77"/>
              </a:rPr>
              <a:t>LÊ TÔN BẢO NHI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644278" y="5970642"/>
            <a:ext cx="3589309" cy="5585515"/>
          </a:xfrm>
          <a:custGeom>
            <a:avLst/>
            <a:gdLst/>
            <a:ahLst/>
            <a:cxnLst/>
            <a:rect l="l" t="t" r="r" b="b"/>
            <a:pathLst>
              <a:path w="3589309" h="5585515">
                <a:moveTo>
                  <a:pt x="3589309" y="5585515"/>
                </a:moveTo>
                <a:lnTo>
                  <a:pt x="0" y="5585515"/>
                </a:lnTo>
                <a:lnTo>
                  <a:pt x="0" y="0"/>
                </a:lnTo>
                <a:lnTo>
                  <a:pt x="3589309" y="0"/>
                </a:lnTo>
                <a:lnTo>
                  <a:pt x="3589309" y="558551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92377" y="7811166"/>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4" name="Freeform 4"/>
          <p:cNvSpPr/>
          <p:nvPr/>
        </p:nvSpPr>
        <p:spPr>
          <a:xfrm>
            <a:off x="11462613" y="1559587"/>
            <a:ext cx="5796687" cy="7167827"/>
          </a:xfrm>
          <a:custGeom>
            <a:avLst/>
            <a:gdLst/>
            <a:ahLst/>
            <a:cxnLst/>
            <a:rect l="l" t="t" r="r" b="b"/>
            <a:pathLst>
              <a:path w="5796687" h="7167827">
                <a:moveTo>
                  <a:pt x="0" y="0"/>
                </a:moveTo>
                <a:lnTo>
                  <a:pt x="5796687" y="0"/>
                </a:lnTo>
                <a:lnTo>
                  <a:pt x="5796687" y="7167826"/>
                </a:lnTo>
                <a:lnTo>
                  <a:pt x="0" y="716782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5" name="TextBox 5"/>
          <p:cNvSpPr txBox="1"/>
          <p:nvPr/>
        </p:nvSpPr>
        <p:spPr>
          <a:xfrm>
            <a:off x="1314597" y="3318255"/>
            <a:ext cx="9521647" cy="6747809"/>
          </a:xfrm>
          <a:prstGeom prst="rect">
            <a:avLst/>
          </a:prstGeom>
        </p:spPr>
        <p:txBody>
          <a:bodyPr lIns="0" tIns="0" rIns="0" bIns="0" rtlCol="0" anchor="t">
            <a:spAutoFit/>
          </a:bodyPr>
          <a:lstStyle/>
          <a:p>
            <a:pPr>
              <a:spcBef>
                <a:spcPts val="300"/>
              </a:spcBef>
              <a:spcAft>
                <a:spcPts val="300"/>
              </a:spcAft>
            </a:pP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Trong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những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năm</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gần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đây</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sự</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phát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triển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mạnh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mẽ</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của</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trí</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tuệ</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nhân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tạo</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(AI)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đã</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tạo</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ra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những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bước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tiến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vượt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bậc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trong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lĩnh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vực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nghệ</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tin. AI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không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chỉ</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xuất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trong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hệ</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thống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phức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tạp</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còn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ngày</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càng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trở</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nên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phổ</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biến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gần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gũi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với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người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dùng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qua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ứng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dụng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thực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tế</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Một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trong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những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ứng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dụng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tiêu</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biểu</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sử</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dụng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rộng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rãi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nhất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nay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chính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chatbot AI. </a:t>
            </a:r>
          </a:p>
          <a:p>
            <a:pPr>
              <a:spcBef>
                <a:spcPts val="300"/>
              </a:spcBef>
              <a:spcAft>
                <a:spcPts val="300"/>
              </a:spcAft>
            </a:pPr>
            <a:endParaRPr lang="en-VN"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spcBef>
                <a:spcPts val="300"/>
              </a:spcBef>
              <a:spcAft>
                <a:spcPts val="300"/>
              </a:spcAft>
            </a:pP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Chatbot AI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hệ</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thống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thiết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kế</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để</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giao</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tiếp</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với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con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người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qua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ngôn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ngữ</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tự</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nhiên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giúp</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người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dùng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có</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thể</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đặt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câu</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hỏi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nhận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phản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hồi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nhanh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chóng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Nhờ</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sự</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phát</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triển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của</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nghệ</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xử</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lý</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ngôn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ngữ</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tự</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nhiên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(NLP),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chatbot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nay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có</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khả</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năng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hiểu</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ngữ</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cảnh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phân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tích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thông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tin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đưa</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ra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câu</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trả</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lời</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ngày</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càng</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chính</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xác</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tự</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nhiên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6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hơn</a:t>
            </a:r>
            <a:r>
              <a:rPr lang="en-US"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a:t>
            </a:r>
            <a:endParaRPr lang="en-VN" sz="26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lgn="ctr">
              <a:lnSpc>
                <a:spcPts val="5039"/>
              </a:lnSpc>
            </a:pPr>
            <a:endParaRPr lang="en-US" sz="2600" b="1" dirty="0">
              <a:solidFill>
                <a:schemeClr val="bg1"/>
              </a:solidFill>
              <a:latin typeface="Arial Rounded MT Bold" panose="020F0704030504030204" pitchFamily="34" charset="77"/>
              <a:ea typeface="Poppins Medium"/>
              <a:cs typeface="Times New Roman" panose="02020603050405020304" pitchFamily="18" charset="0"/>
              <a:sym typeface="Poppins Medium"/>
            </a:endParaRPr>
          </a:p>
        </p:txBody>
      </p:sp>
      <p:sp>
        <p:nvSpPr>
          <p:cNvPr id="6" name="TextBox 6"/>
          <p:cNvSpPr txBox="1"/>
          <p:nvPr/>
        </p:nvSpPr>
        <p:spPr>
          <a:xfrm>
            <a:off x="1028700" y="1370416"/>
            <a:ext cx="11483624" cy="1367106"/>
          </a:xfrm>
          <a:prstGeom prst="rect">
            <a:avLst/>
          </a:prstGeom>
        </p:spPr>
        <p:txBody>
          <a:bodyPr wrap="square" lIns="0" tIns="0" rIns="0" bIns="0" rtlCol="0" anchor="t">
            <a:spAutoFit/>
          </a:bodyPr>
          <a:lstStyle/>
          <a:p>
            <a:pPr algn="l">
              <a:lnSpc>
                <a:spcPts val="11491"/>
              </a:lnSpc>
            </a:pPr>
            <a:r>
              <a:rPr lang="en-US" sz="8000" b="1" dirty="0">
                <a:solidFill>
                  <a:schemeClr val="bg1"/>
                </a:solidFill>
                <a:latin typeface="Arial Rounded MT Bold" panose="020F0704030504030204" pitchFamily="34" charset="77"/>
                <a:ea typeface="League Spartan"/>
                <a:cs typeface="League Spartan"/>
                <a:sym typeface="League Spartan"/>
              </a:rPr>
              <a:t>CHƯƠNG 1: GIỚI THIỆU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644278" y="5970642"/>
            <a:ext cx="3589309" cy="5585515"/>
          </a:xfrm>
          <a:custGeom>
            <a:avLst/>
            <a:gdLst/>
            <a:ahLst/>
            <a:cxnLst/>
            <a:rect l="l" t="t" r="r" b="b"/>
            <a:pathLst>
              <a:path w="3589309" h="5585515">
                <a:moveTo>
                  <a:pt x="3589309" y="5585515"/>
                </a:moveTo>
                <a:lnTo>
                  <a:pt x="0" y="5585515"/>
                </a:lnTo>
                <a:lnTo>
                  <a:pt x="0" y="0"/>
                </a:lnTo>
                <a:lnTo>
                  <a:pt x="3589309" y="0"/>
                </a:lnTo>
                <a:lnTo>
                  <a:pt x="3589309" y="558551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292377" y="7811166"/>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4" name="Freeform 4"/>
          <p:cNvSpPr/>
          <p:nvPr/>
        </p:nvSpPr>
        <p:spPr>
          <a:xfrm>
            <a:off x="11462613" y="1559587"/>
            <a:ext cx="5796687" cy="7167827"/>
          </a:xfrm>
          <a:custGeom>
            <a:avLst/>
            <a:gdLst/>
            <a:ahLst/>
            <a:cxnLst/>
            <a:rect l="l" t="t" r="r" b="b"/>
            <a:pathLst>
              <a:path w="5796687" h="7167827">
                <a:moveTo>
                  <a:pt x="0" y="0"/>
                </a:moveTo>
                <a:lnTo>
                  <a:pt x="5796687" y="0"/>
                </a:lnTo>
                <a:lnTo>
                  <a:pt x="5796687" y="7167826"/>
                </a:lnTo>
                <a:lnTo>
                  <a:pt x="0" y="716782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5" name="TextBox 5"/>
          <p:cNvSpPr txBox="1"/>
          <p:nvPr/>
        </p:nvSpPr>
        <p:spPr>
          <a:xfrm>
            <a:off x="1314597" y="734385"/>
            <a:ext cx="9521647" cy="9552615"/>
          </a:xfrm>
          <a:prstGeom prst="rect">
            <a:avLst/>
          </a:prstGeom>
        </p:spPr>
        <p:txBody>
          <a:bodyPr lIns="0" tIns="0" rIns="0" bIns="0" rtlCol="0" anchor="t">
            <a:spAutoFit/>
          </a:bodyPr>
          <a:lstStyle/>
          <a:p>
            <a:pPr>
              <a:spcBef>
                <a:spcPts val="300"/>
              </a:spcBef>
              <a:spcAft>
                <a:spcPts val="300"/>
              </a:spcAft>
            </a:pP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chatbot AI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không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chỉ</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dừng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lại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ở</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việc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trả</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lời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câu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hỏi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đơn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giản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còn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có</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thể</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hỗ</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trợ</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trong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nhiều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lĩnh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vực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như</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học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tập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làm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việc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lập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trình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sáng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tạo</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nội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dung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chăm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sóc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khách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hàng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Điều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này</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góp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phần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nâng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cao</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suất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làm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việc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tiết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kiệm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thời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gian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giảm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chi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phí</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cho</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nhân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doanh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nghiệp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a:t>
            </a:r>
            <a:endParaRPr lang="en-VN"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spcBef>
                <a:spcPts val="300"/>
              </a:spcBef>
              <a:spcAft>
                <a:spcPts val="300"/>
              </a:spcAft>
            </a:pPr>
            <a:endPar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spcBef>
                <a:spcPts val="300"/>
              </a:spcBef>
              <a:spcAft>
                <a:spcPts val="300"/>
              </a:spcAft>
            </a:pP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nay,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có</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nhiều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chatbot AI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nổi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bật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phát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triển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bởi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ty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nghệ</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lớn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trên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thế</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giới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như</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ChatGPT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Gemini, Grok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DeepSeek</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Mỗi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cụ</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đều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có</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những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đặc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điểm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tính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năng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định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hướng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phát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triển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riêng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phù</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hợp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với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từng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cầu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sử</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dụng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khác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nhau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a:t>
            </a:r>
          </a:p>
          <a:p>
            <a:pPr>
              <a:spcBef>
                <a:spcPts val="300"/>
              </a:spcBef>
              <a:spcAft>
                <a:spcPts val="300"/>
              </a:spcAft>
            </a:pPr>
            <a:endParaRPr lang="en-VN"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spcBef>
                <a:spcPts val="300"/>
              </a:spcBef>
              <a:spcAft>
                <a:spcPts val="300"/>
              </a:spcAft>
            </a:pP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Xuất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phát</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từ</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thực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tế</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đó</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bài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nghiên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cứu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này</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thực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hiện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nhằm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mục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đích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phân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tích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so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sánh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chatbot AI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tiêu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biểu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từ</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đó</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làm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rõ</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những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điểm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mạnh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điểm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yếu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cũng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như</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ứng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dụng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thực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tế</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của</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từng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cụ</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Thông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qua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quá</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trình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nghiên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cứu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nhóm</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mong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muốn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cung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cấp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cái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nhìn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tổng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quan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và</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giúp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người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dùng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lựa</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chọn</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được</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công</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cụ</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phù</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hợp</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với</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nhu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cầu</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của</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 </a:t>
            </a:r>
            <a:r>
              <a:rPr lang="en-US" sz="2800" dirty="0" err="1">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mình</a:t>
            </a:r>
            <a:r>
              <a:rPr lang="en-US"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rPr>
              <a:t>.</a:t>
            </a:r>
            <a:endParaRPr lang="en-VN" sz="2800" dirty="0">
              <a:solidFill>
                <a:schemeClr val="bg1"/>
              </a:solidFill>
              <a:effectLst/>
              <a:latin typeface="Arial Rounded MT Bold" panose="020F0704030504030204" pitchFamily="34" charset="77"/>
              <a:ea typeface="Times New Roman" panose="02020603050405020304" pitchFamily="18" charset="0"/>
              <a:cs typeface="Times New Roman" panose="02020603050405020304" pitchFamily="18" charset="0"/>
            </a:endParaRPr>
          </a:p>
          <a:p>
            <a:pPr algn="ctr">
              <a:lnSpc>
                <a:spcPts val="5039"/>
              </a:lnSpc>
            </a:pPr>
            <a:endParaRPr lang="en-US" sz="2800" b="1" dirty="0">
              <a:solidFill>
                <a:schemeClr val="bg1"/>
              </a:solidFill>
              <a:latin typeface="Poppins Medium"/>
              <a:ea typeface="Poppins Medium"/>
              <a:cs typeface="Poppins Medium"/>
              <a:sym typeface="Poppins Medium"/>
            </a:endParaRPr>
          </a:p>
        </p:txBody>
      </p:sp>
    </p:spTree>
    <p:extLst>
      <p:ext uri="{BB962C8B-B14F-4D97-AF65-F5344CB8AC3E}">
        <p14:creationId xmlns:p14="http://schemas.microsoft.com/office/powerpoint/2010/main" val="105559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6" name="TextBox 6"/>
          <p:cNvSpPr txBox="1"/>
          <p:nvPr/>
        </p:nvSpPr>
        <p:spPr>
          <a:xfrm>
            <a:off x="931985" y="2261518"/>
            <a:ext cx="9242100" cy="5078313"/>
          </a:xfrm>
          <a:prstGeom prst="rect">
            <a:avLst/>
          </a:prstGeom>
        </p:spPr>
        <p:txBody>
          <a:bodyPr wrap="square" lIns="0" tIns="0" rIns="0" bIns="0" rtlCol="0" anchor="t">
            <a:spAutoFit/>
          </a:bodyPr>
          <a:lstStyle/>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1950s:</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Nhà khoa học Alan Turing đưa ra ý tưởng về máy có thể “suy nghĩ” như con người</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 Đặt nền móng cho AI</a:t>
            </a:r>
          </a:p>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1960–1980s:</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Phát triển các hệ thống AI đầu tiên (AI còn đơn giản)</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 Chủ yếu dùng quy tắc, chưa thông minh</a:t>
            </a:r>
          </a:p>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1990–2000s:</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AI bắt đầu ứng dụng thực tế</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 Ví dụ: máy chơi cờ, nhận dạng giọng nói</a:t>
            </a:r>
          </a:p>
          <a:p>
            <a:pPr algn="l"/>
            <a:endParaRPr lang="vi-VN" sz="3000" b="1" i="0" dirty="0">
              <a:solidFill>
                <a:schemeClr val="bg1"/>
              </a:solidFill>
              <a:effectLst/>
              <a:latin typeface="Times New Roman" panose="02020603050405020304" pitchFamily="18" charset="0"/>
              <a:cs typeface="Times New Roman" panose="02020603050405020304" pitchFamily="18" charset="0"/>
            </a:endParaRPr>
          </a:p>
        </p:txBody>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46B91E2D-EED8-7F44-BA3D-FF23E341699A}"/>
              </a:ext>
            </a:extLst>
          </p:cNvPr>
          <p:cNvSpPr txBox="1"/>
          <p:nvPr/>
        </p:nvSpPr>
        <p:spPr>
          <a:xfrm rot="10800000" flipH="1" flipV="1">
            <a:off x="914400" y="1082167"/>
            <a:ext cx="15705911" cy="1015663"/>
          </a:xfrm>
          <a:prstGeom prst="rect">
            <a:avLst/>
          </a:prstGeom>
          <a:noFill/>
        </p:spPr>
        <p:txBody>
          <a:bodyPr wrap="square" rtlCol="0">
            <a:spAutoFit/>
          </a:bodyPr>
          <a:lstStyle/>
          <a:p>
            <a:r>
              <a:rPr lang="en-VN" sz="6000" b="1" dirty="0">
                <a:solidFill>
                  <a:schemeClr val="bg1"/>
                </a:solidFill>
                <a:latin typeface="Times New Roman" panose="02020603050405020304" pitchFamily="18" charset="0"/>
                <a:cs typeface="Times New Roman" panose="02020603050405020304" pitchFamily="18" charset="0"/>
              </a:rPr>
              <a:t>LỊCH SỬ PHÁT TRIỂN AI</a:t>
            </a:r>
          </a:p>
        </p:txBody>
      </p:sp>
      <p:sp>
        <p:nvSpPr>
          <p:cNvPr id="11" name="TextBox 10">
            <a:extLst>
              <a:ext uri="{FF2B5EF4-FFF2-40B4-BE49-F238E27FC236}">
                <a16:creationId xmlns:a16="http://schemas.microsoft.com/office/drawing/2014/main" id="{913A0A0B-185D-1347-9718-359904041A00}"/>
              </a:ext>
            </a:extLst>
          </p:cNvPr>
          <p:cNvSpPr txBox="1"/>
          <p:nvPr/>
        </p:nvSpPr>
        <p:spPr>
          <a:xfrm>
            <a:off x="9067800" y="5760973"/>
            <a:ext cx="9220200" cy="3785652"/>
          </a:xfrm>
          <a:prstGeom prst="rect">
            <a:avLst/>
          </a:prstGeom>
          <a:noFill/>
        </p:spPr>
        <p:txBody>
          <a:bodyPr wrap="square" rtlCol="0">
            <a:spAutoFit/>
          </a:bodyPr>
          <a:lstStyle/>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2010–2019:</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Bùng nổ Machine Learning và Deep Learning</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 AI học từ dữ liệu, thông minh hơn rất nhiều2020 – nay:</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AI phát triển mạnh với các công cụ nhưChatGPT</a:t>
            </a:r>
          </a:p>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Google Gemini</a:t>
            </a:r>
          </a:p>
          <a:p>
            <a:pPr>
              <a:buFont typeface="Arial" panose="020B0604020202020204" pitchFamily="34" charset="0"/>
              <a:buChar char="•"/>
            </a:pPr>
            <a:r>
              <a:rPr lang="vi-VN" sz="3000" b="1" dirty="0">
                <a:solidFill>
                  <a:schemeClr val="bg1"/>
                </a:solidFill>
                <a:latin typeface="Times New Roman" panose="02020603050405020304" pitchFamily="18" charset="0"/>
                <a:cs typeface="Times New Roman" panose="02020603050405020304" pitchFamily="18" charset="0"/>
              </a:rPr>
              <a:t>Midjourney</a:t>
            </a:r>
            <a:br>
              <a:rPr lang="vi-VN" sz="3000" b="1" dirty="0">
                <a:solidFill>
                  <a:schemeClr val="bg1"/>
                </a:solidFill>
                <a:latin typeface="Times New Roman" panose="02020603050405020304" pitchFamily="18" charset="0"/>
                <a:cs typeface="Times New Roman" panose="02020603050405020304" pitchFamily="18" charset="0"/>
              </a:rPr>
            </a:br>
            <a:r>
              <a:rPr lang="vi-VN" sz="3000" b="1" dirty="0">
                <a:solidFill>
                  <a:schemeClr val="bg1"/>
                </a:solidFill>
                <a:latin typeface="Times New Roman" panose="02020603050405020304" pitchFamily="18" charset="0"/>
                <a:cs typeface="Times New Roman" panose="02020603050405020304" pitchFamily="18" charset="0"/>
              </a:rPr>
              <a:t>→ AI có thể viết, vẽ, lập trình, giao tiếp như con người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1028700" y="1526407"/>
            <a:ext cx="12763500" cy="1209370"/>
          </a:xfrm>
          <a:prstGeom prst="rect">
            <a:avLst/>
          </a:prstGeom>
        </p:spPr>
        <p:txBody>
          <a:bodyPr wrap="square" lIns="0" tIns="0" rIns="0" bIns="0" rtlCol="0" anchor="t">
            <a:spAutoFit/>
          </a:bodyPr>
          <a:lstStyle/>
          <a:p>
            <a:pPr algn="l">
              <a:lnSpc>
                <a:spcPts val="10200"/>
              </a:lnSpc>
            </a:pPr>
            <a:r>
              <a:rPr lang="en-US" sz="7000" dirty="0">
                <a:solidFill>
                  <a:schemeClr val="bg1"/>
                </a:solidFill>
                <a:latin typeface="Arial Rounded MT Bold" panose="020F0704030504030204" pitchFamily="34" charset="77"/>
                <a:ea typeface="League Spartan"/>
                <a:cs typeface="League Spartan"/>
                <a:sym typeface="League Spartan"/>
              </a:rPr>
              <a:t>CÁC CÔNG CỤ AI TIÊU BIỂU</a:t>
            </a:r>
          </a:p>
        </p:txBody>
      </p:sp>
      <p:sp>
        <p:nvSpPr>
          <p:cNvPr id="3" name="Freeform 3"/>
          <p:cNvSpPr/>
          <p:nvPr/>
        </p:nvSpPr>
        <p:spPr>
          <a:xfrm rot="-5400000" flipH="1" flipV="1">
            <a:off x="68338" y="6465542"/>
            <a:ext cx="3589309" cy="5585515"/>
          </a:xfrm>
          <a:custGeom>
            <a:avLst/>
            <a:gdLst/>
            <a:ahLst/>
            <a:cxnLst/>
            <a:rect l="l" t="t" r="r" b="b"/>
            <a:pathLst>
              <a:path w="3589309" h="5585515">
                <a:moveTo>
                  <a:pt x="3589309" y="5585516"/>
                </a:moveTo>
                <a:lnTo>
                  <a:pt x="0" y="5585516"/>
                </a:lnTo>
                <a:lnTo>
                  <a:pt x="0" y="0"/>
                </a:lnTo>
                <a:lnTo>
                  <a:pt x="3589309" y="0"/>
                </a:lnTo>
                <a:lnTo>
                  <a:pt x="3589309" y="558551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4343404" y="-1256825"/>
            <a:ext cx="3589309" cy="5585515"/>
          </a:xfrm>
          <a:custGeom>
            <a:avLst/>
            <a:gdLst/>
            <a:ahLst/>
            <a:cxnLst/>
            <a:rect l="l" t="t" r="r" b="b"/>
            <a:pathLst>
              <a:path w="3589309" h="5585515">
                <a:moveTo>
                  <a:pt x="0" y="0"/>
                </a:moveTo>
                <a:lnTo>
                  <a:pt x="3589309" y="0"/>
                </a:lnTo>
                <a:lnTo>
                  <a:pt x="3589309" y="5585515"/>
                </a:lnTo>
                <a:lnTo>
                  <a:pt x="0" y="55855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1377495" y="8539412"/>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7" name="TextBox 7"/>
          <p:cNvSpPr txBox="1"/>
          <p:nvPr/>
        </p:nvSpPr>
        <p:spPr>
          <a:xfrm>
            <a:off x="3523199" y="3374017"/>
            <a:ext cx="8986847" cy="5539978"/>
          </a:xfrm>
          <a:prstGeom prst="rect">
            <a:avLst/>
          </a:prstGeom>
        </p:spPr>
        <p:txBody>
          <a:bodyPr lIns="0" tIns="0" rIns="0" bIns="0" rtlCol="0" anchor="t">
            <a:spAutoFit/>
          </a:bodyPr>
          <a:lstStyle/>
          <a:p>
            <a:pPr algn="l">
              <a:buFont typeface="Arial" panose="020B0604020202020204" pitchFamily="34" charset="0"/>
              <a:buChar char="•"/>
            </a:pPr>
            <a:r>
              <a:rPr lang="en-US" sz="4500" b="1" i="0" dirty="0" err="1">
                <a:solidFill>
                  <a:srgbClr val="0070C0"/>
                </a:solidFill>
                <a:effectLst/>
                <a:latin typeface="Times New Roman" panose="02020603050405020304" pitchFamily="18" charset="0"/>
                <a:cs typeface="Times New Roman" panose="02020603050405020304" pitchFamily="18" charset="0"/>
              </a:rPr>
              <a:t>ChatGPT</a:t>
            </a:r>
            <a:r>
              <a:rPr lang="en-US" sz="4500" b="1" i="0" dirty="0">
                <a:solidFill>
                  <a:schemeClr val="bg1"/>
                </a:solidFill>
                <a:effectLst/>
                <a:latin typeface="Times New Roman" panose="02020603050405020304" pitchFamily="18" charset="0"/>
                <a:cs typeface="Times New Roman" panose="02020603050405020304" pitchFamily="18" charset="0"/>
              </a:rPr>
              <a:t> → </a:t>
            </a:r>
            <a:r>
              <a:rPr lang="en-US" sz="4500" b="1" i="0" dirty="0" err="1">
                <a:solidFill>
                  <a:schemeClr val="bg1"/>
                </a:solidFill>
                <a:effectLst/>
                <a:latin typeface="Times New Roman" panose="02020603050405020304" pitchFamily="18" charset="0"/>
                <a:cs typeface="Times New Roman" panose="02020603050405020304" pitchFamily="18" charset="0"/>
              </a:rPr>
              <a:t>Trả</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lời</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câu</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hỏi</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viết</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nội</a:t>
            </a:r>
            <a:r>
              <a:rPr lang="en-US" sz="4500" b="1" i="0" dirty="0">
                <a:solidFill>
                  <a:schemeClr val="bg1"/>
                </a:solidFill>
                <a:effectLst/>
                <a:latin typeface="Times New Roman" panose="02020603050405020304" pitchFamily="18" charset="0"/>
                <a:cs typeface="Times New Roman" panose="02020603050405020304" pitchFamily="18" charset="0"/>
              </a:rPr>
              <a:t> dung, </a:t>
            </a:r>
            <a:r>
              <a:rPr lang="en-US" sz="4500" b="1" i="0" dirty="0" err="1">
                <a:solidFill>
                  <a:schemeClr val="bg1"/>
                </a:solidFill>
                <a:effectLst/>
                <a:latin typeface="Times New Roman" panose="02020603050405020304" pitchFamily="18" charset="0"/>
                <a:cs typeface="Times New Roman" panose="02020603050405020304" pitchFamily="18" charset="0"/>
              </a:rPr>
              <a:t>hỗ</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trợ</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học</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tập</a:t>
            </a:r>
            <a:endParaRPr lang="en-US" sz="4500" b="1" i="0" dirty="0">
              <a:solidFill>
                <a:schemeClr val="bg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4500" b="1" i="0" dirty="0">
                <a:solidFill>
                  <a:srgbClr val="0070C0"/>
                </a:solidFill>
                <a:effectLst/>
                <a:latin typeface="Times New Roman" panose="02020603050405020304" pitchFamily="18" charset="0"/>
                <a:cs typeface="Times New Roman" panose="02020603050405020304" pitchFamily="18" charset="0"/>
              </a:rPr>
              <a:t>Google Gemini </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Tìm</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kiếm</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thông</a:t>
            </a:r>
            <a:r>
              <a:rPr lang="en-US" sz="4500" b="1" i="0" dirty="0">
                <a:solidFill>
                  <a:schemeClr val="bg1"/>
                </a:solidFill>
                <a:effectLst/>
                <a:latin typeface="Times New Roman" panose="02020603050405020304" pitchFamily="18" charset="0"/>
                <a:cs typeface="Times New Roman" panose="02020603050405020304" pitchFamily="18" charset="0"/>
              </a:rPr>
              <a:t> tin, </a:t>
            </a:r>
            <a:r>
              <a:rPr lang="en-US" sz="4500" b="1" i="0" dirty="0" err="1">
                <a:solidFill>
                  <a:schemeClr val="bg1"/>
                </a:solidFill>
                <a:effectLst/>
                <a:latin typeface="Times New Roman" panose="02020603050405020304" pitchFamily="18" charset="0"/>
                <a:cs typeface="Times New Roman" panose="02020603050405020304" pitchFamily="18" charset="0"/>
              </a:rPr>
              <a:t>trả</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lời</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câu</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hỏi</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tích</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hợp</a:t>
            </a:r>
            <a:r>
              <a:rPr lang="en-US" sz="4500" b="1" i="0" dirty="0">
                <a:solidFill>
                  <a:schemeClr val="bg1"/>
                </a:solidFill>
                <a:effectLst/>
                <a:latin typeface="Times New Roman" panose="02020603050405020304" pitchFamily="18" charset="0"/>
                <a:cs typeface="Times New Roman" panose="02020603050405020304" pitchFamily="18" charset="0"/>
              </a:rPr>
              <a:t> Google</a:t>
            </a:r>
          </a:p>
          <a:p>
            <a:pPr algn="l">
              <a:buFont typeface="Arial" panose="020B0604020202020204" pitchFamily="34" charset="0"/>
              <a:buChar char="•"/>
            </a:pPr>
            <a:r>
              <a:rPr lang="en-US" sz="4500" b="1" i="0" dirty="0">
                <a:solidFill>
                  <a:srgbClr val="0070C0"/>
                </a:solidFill>
                <a:effectLst/>
                <a:latin typeface="Times New Roman" panose="02020603050405020304" pitchFamily="18" charset="0"/>
                <a:cs typeface="Times New Roman" panose="02020603050405020304" pitchFamily="18" charset="0"/>
              </a:rPr>
              <a:t>Grok</a:t>
            </a:r>
            <a:r>
              <a:rPr lang="en-US" sz="4500" b="1" i="0" dirty="0">
                <a:solidFill>
                  <a:schemeClr val="bg1"/>
                </a:solidFill>
                <a:effectLst/>
                <a:latin typeface="Times New Roman" panose="02020603050405020304" pitchFamily="18" charset="0"/>
                <a:cs typeface="Times New Roman" panose="02020603050405020304" pitchFamily="18" charset="0"/>
              </a:rPr>
              <a:t> → Chat </a:t>
            </a:r>
            <a:r>
              <a:rPr lang="en-US" sz="4500" b="1" i="0" dirty="0" err="1">
                <a:solidFill>
                  <a:schemeClr val="bg1"/>
                </a:solidFill>
                <a:effectLst/>
                <a:latin typeface="Times New Roman" panose="02020603050405020304" pitchFamily="18" charset="0"/>
                <a:cs typeface="Times New Roman" panose="02020603050405020304" pitchFamily="18" charset="0"/>
              </a:rPr>
              <a:t>và</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tạo</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nội</a:t>
            </a:r>
            <a:r>
              <a:rPr lang="en-US" sz="4500" b="1" i="0" dirty="0">
                <a:solidFill>
                  <a:schemeClr val="bg1"/>
                </a:solidFill>
                <a:effectLst/>
                <a:latin typeface="Times New Roman" panose="02020603050405020304" pitchFamily="18" charset="0"/>
                <a:cs typeface="Times New Roman" panose="02020603050405020304" pitchFamily="18" charset="0"/>
              </a:rPr>
              <a:t> dung, </a:t>
            </a:r>
            <a:r>
              <a:rPr lang="en-US" sz="4500" b="1" i="0" dirty="0" err="1">
                <a:solidFill>
                  <a:schemeClr val="bg1"/>
                </a:solidFill>
                <a:effectLst/>
                <a:latin typeface="Times New Roman" panose="02020603050405020304" pitchFamily="18" charset="0"/>
                <a:cs typeface="Times New Roman" panose="02020603050405020304" pitchFamily="18" charset="0"/>
              </a:rPr>
              <a:t>tích</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hợp</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mạng</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xã</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hội</a:t>
            </a:r>
            <a:endParaRPr lang="en-US" sz="4500" b="1" i="0" dirty="0">
              <a:solidFill>
                <a:schemeClr val="bg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4500" b="1" i="0" dirty="0" err="1">
                <a:solidFill>
                  <a:srgbClr val="0070C0"/>
                </a:solidFill>
                <a:effectLst/>
                <a:latin typeface="Times New Roman" panose="02020603050405020304" pitchFamily="18" charset="0"/>
                <a:cs typeface="Times New Roman" panose="02020603050405020304" pitchFamily="18" charset="0"/>
              </a:rPr>
              <a:t>DeepSeek</a:t>
            </a:r>
            <a:r>
              <a:rPr lang="en-US" sz="4500" b="1" i="0" dirty="0">
                <a:solidFill>
                  <a:schemeClr val="bg1"/>
                </a:solidFill>
                <a:effectLst/>
                <a:latin typeface="Times New Roman" panose="02020603050405020304" pitchFamily="18" charset="0"/>
                <a:cs typeface="Times New Roman" panose="02020603050405020304" pitchFamily="18" charset="0"/>
              </a:rPr>
              <a:t> → </a:t>
            </a:r>
            <a:r>
              <a:rPr lang="en-US" sz="4500" b="1" i="0" dirty="0" err="1">
                <a:solidFill>
                  <a:schemeClr val="bg1"/>
                </a:solidFill>
                <a:effectLst/>
                <a:latin typeface="Times New Roman" panose="02020603050405020304" pitchFamily="18" charset="0"/>
                <a:cs typeface="Times New Roman" panose="02020603050405020304" pitchFamily="18" charset="0"/>
              </a:rPr>
              <a:t>Phân</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tích</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dữ</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liệu</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tìm</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kiếm</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nâng</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cao</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tổng</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hợp</a:t>
            </a:r>
            <a:r>
              <a:rPr lang="en-US" sz="4500" b="1" i="0" dirty="0">
                <a:solidFill>
                  <a:schemeClr val="bg1"/>
                </a:solidFill>
                <a:effectLst/>
                <a:latin typeface="Times New Roman" panose="02020603050405020304" pitchFamily="18" charset="0"/>
                <a:cs typeface="Times New Roman" panose="02020603050405020304" pitchFamily="18" charset="0"/>
              </a:rPr>
              <a:t> </a:t>
            </a:r>
            <a:r>
              <a:rPr lang="en-US" sz="4500" b="1" i="0" dirty="0" err="1">
                <a:solidFill>
                  <a:schemeClr val="bg1"/>
                </a:solidFill>
                <a:effectLst/>
                <a:latin typeface="Times New Roman" panose="02020603050405020304" pitchFamily="18" charset="0"/>
                <a:cs typeface="Times New Roman" panose="02020603050405020304" pitchFamily="18" charset="0"/>
              </a:rPr>
              <a:t>thông</a:t>
            </a:r>
            <a:r>
              <a:rPr lang="en-US" sz="4500" b="1" i="0" dirty="0">
                <a:solidFill>
                  <a:schemeClr val="bg1"/>
                </a:solidFill>
                <a:effectLst/>
                <a:latin typeface="Times New Roman" panose="02020603050405020304" pitchFamily="18" charset="0"/>
                <a:cs typeface="Times New Roman" panose="02020603050405020304" pitchFamily="18" charset="0"/>
              </a:rPr>
              <a:t> tin</a:t>
            </a:r>
          </a:p>
        </p:txBody>
      </p:sp>
      <p:sp>
        <p:nvSpPr>
          <p:cNvPr id="9" name="Freeform 9"/>
          <p:cNvSpPr/>
          <p:nvPr/>
        </p:nvSpPr>
        <p:spPr>
          <a:xfrm>
            <a:off x="17259300" y="-1081146"/>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1588378" y="9240441"/>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6" name="TextBox 6"/>
          <p:cNvSpPr txBox="1"/>
          <p:nvPr/>
        </p:nvSpPr>
        <p:spPr>
          <a:xfrm>
            <a:off x="762000" y="985585"/>
            <a:ext cx="10162111" cy="692497"/>
          </a:xfrm>
          <a:prstGeom prst="rect">
            <a:avLst/>
          </a:prstGeom>
        </p:spPr>
        <p:txBody>
          <a:bodyPr lIns="0" tIns="0" rIns="0" bIns="0" rtlCol="0" anchor="t">
            <a:spAutoFit/>
          </a:bodyPr>
          <a:lstStyle/>
          <a:p>
            <a:pPr algn="l"/>
            <a:r>
              <a:rPr lang="vi-VN" sz="4500" b="1" i="0" dirty="0">
                <a:solidFill>
                  <a:schemeClr val="bg1"/>
                </a:solidFill>
                <a:effectLst/>
                <a:latin typeface="Times New Roman" panose="02020603050405020304" pitchFamily="18" charset="0"/>
                <a:cs typeface="Times New Roman" panose="02020603050405020304" pitchFamily="18" charset="0"/>
              </a:rPr>
              <a:t>SO SÁNH CÁC CÔNG CỤ AI</a:t>
            </a:r>
          </a:p>
        </p:txBody>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3AAF78DD-79B9-4E4C-B682-5F00B9DB4C6F}"/>
              </a:ext>
            </a:extLst>
          </p:cNvPr>
          <p:cNvSpPr txBox="1"/>
          <p:nvPr/>
        </p:nvSpPr>
        <p:spPr>
          <a:xfrm>
            <a:off x="762000" y="2324100"/>
            <a:ext cx="8686800" cy="4247317"/>
          </a:xfrm>
          <a:prstGeom prst="rect">
            <a:avLst/>
          </a:prstGeom>
          <a:noFill/>
        </p:spPr>
        <p:txBody>
          <a:bodyPr wrap="square" rtlCol="0">
            <a:spAutoFit/>
          </a:bodyPr>
          <a:lstStyle/>
          <a:p>
            <a:r>
              <a:rPr lang="vi-VN" sz="3000" b="1" i="0" dirty="0">
                <a:solidFill>
                  <a:srgbClr val="0070C0"/>
                </a:solidFill>
                <a:effectLst/>
                <a:latin typeface="+mj-lt"/>
              </a:rPr>
              <a:t>ChatGPT</a:t>
            </a:r>
            <a:r>
              <a:rPr lang="vi-VN" sz="3000" b="1" i="0" u="none" strike="noStrike" dirty="0">
                <a:solidFill>
                  <a:schemeClr val="bg1"/>
                </a:solidFill>
                <a:effectLst/>
                <a:latin typeface="+mj-lt"/>
              </a:rPr>
              <a:t> là một công cụ đa năng, dễ sử dụng, nổi bật với khả năng trả lời câu hỏi, viết nội dung, tóm tắt thông tin và hỗ trợ học tập. Nó hiểu ngữ cảnh khá tốt, có thể tạo ra văn bản mạch lạc và tự nhiên. Tuy nhiên, ChatGPT đôi khi cung cấp thông tin chưa chính xác hoặc lỗi thời vì dữ liệu của nó không được cập nhật real-time. Vì vậy, người dùng cần kiểm tra lại khi dùng cho nghiên cứu hay công việc quan trọng.</a:t>
            </a:r>
            <a:endParaRPr lang="en-VN" sz="3000" b="1" dirty="0">
              <a:solidFill>
                <a:schemeClr val="bg1"/>
              </a:solidFill>
              <a:latin typeface="+mj-lt"/>
            </a:endParaRPr>
          </a:p>
        </p:txBody>
      </p:sp>
      <p:sp>
        <p:nvSpPr>
          <p:cNvPr id="11" name="TextBox 10">
            <a:extLst>
              <a:ext uri="{FF2B5EF4-FFF2-40B4-BE49-F238E27FC236}">
                <a16:creationId xmlns:a16="http://schemas.microsoft.com/office/drawing/2014/main" id="{B0E39697-DBB4-1A48-956A-844762B935A2}"/>
              </a:ext>
            </a:extLst>
          </p:cNvPr>
          <p:cNvSpPr txBox="1"/>
          <p:nvPr/>
        </p:nvSpPr>
        <p:spPr>
          <a:xfrm>
            <a:off x="9829800" y="5905500"/>
            <a:ext cx="8458200" cy="4247317"/>
          </a:xfrm>
          <a:prstGeom prst="rect">
            <a:avLst/>
          </a:prstGeom>
          <a:noFill/>
        </p:spPr>
        <p:txBody>
          <a:bodyPr wrap="square" rtlCol="0">
            <a:spAutoFit/>
          </a:bodyPr>
          <a:lstStyle/>
          <a:p>
            <a:r>
              <a:rPr lang="vi-VN" sz="3000" b="1" i="0" dirty="0">
                <a:solidFill>
                  <a:srgbClr val="0070C0"/>
                </a:solidFill>
                <a:effectLst/>
                <a:latin typeface="+mj-lt"/>
              </a:rPr>
              <a:t>Google Gemini</a:t>
            </a:r>
            <a:r>
              <a:rPr lang="vi-VN" sz="3000" b="1" i="0" u="none" strike="noStrike" dirty="0">
                <a:solidFill>
                  <a:srgbClr val="0070C0"/>
                </a:solidFill>
                <a:effectLst/>
                <a:latin typeface="+mj-lt"/>
              </a:rPr>
              <a:t> </a:t>
            </a:r>
            <a:r>
              <a:rPr lang="vi-VN" sz="3000" b="1" i="0" u="none" strike="noStrike" dirty="0">
                <a:solidFill>
                  <a:schemeClr val="bg1"/>
                </a:solidFill>
                <a:effectLst/>
                <a:latin typeface="+mj-lt"/>
              </a:rPr>
              <a:t>là công cụ AI mạnh về tìm kiếm thông tin, cập nhật dữ liệu mới và trả lời câu hỏi chính xác nhờ tích hợp trực tiếp với hệ sinh thái Google. Nó phù hợp để nghiên cứu nhanh, tổng hợp kiến thức và hỗ trợ ra quyết định. Tuy nhiên, Gemini chưa thực sự sáng tạo khi tạo nội dung như ChatGPT, nên nếu bạn muốn viết văn bản hay nội dung sáng tạo thì công cụ này có thể chưa đáp ứng hết.</a:t>
            </a:r>
            <a:endParaRPr lang="en-VN" sz="3000" b="1" dirty="0">
              <a:solidFill>
                <a:schemeClr val="bg1"/>
              </a:solidFill>
              <a:latin typeface="+mj-lt"/>
            </a:endParaRPr>
          </a:p>
        </p:txBody>
      </p:sp>
    </p:spTree>
    <p:extLst>
      <p:ext uri="{BB962C8B-B14F-4D97-AF65-F5344CB8AC3E}">
        <p14:creationId xmlns:p14="http://schemas.microsoft.com/office/powerpoint/2010/main" val="699190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6" name="TextBox 6"/>
          <p:cNvSpPr txBox="1"/>
          <p:nvPr/>
        </p:nvSpPr>
        <p:spPr>
          <a:xfrm>
            <a:off x="762000" y="985585"/>
            <a:ext cx="10162111" cy="692497"/>
          </a:xfrm>
          <a:prstGeom prst="rect">
            <a:avLst/>
          </a:prstGeom>
        </p:spPr>
        <p:txBody>
          <a:bodyPr lIns="0" tIns="0" rIns="0" bIns="0" rtlCol="0" anchor="t">
            <a:spAutoFit/>
          </a:bodyPr>
          <a:lstStyle/>
          <a:p>
            <a:pPr algn="l"/>
            <a:r>
              <a:rPr lang="vi-VN" sz="4500" b="1" i="0" dirty="0">
                <a:solidFill>
                  <a:schemeClr val="bg1"/>
                </a:solidFill>
                <a:effectLst/>
                <a:latin typeface="Times New Roman" panose="02020603050405020304" pitchFamily="18" charset="0"/>
                <a:cs typeface="Times New Roman" panose="02020603050405020304" pitchFamily="18" charset="0"/>
              </a:rPr>
              <a:t>SO SÁNH CÁC CÔNG CỤ AI</a:t>
            </a:r>
          </a:p>
        </p:txBody>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3AAF78DD-79B9-4E4C-B682-5F00B9DB4C6F}"/>
              </a:ext>
            </a:extLst>
          </p:cNvPr>
          <p:cNvSpPr txBox="1"/>
          <p:nvPr/>
        </p:nvSpPr>
        <p:spPr>
          <a:xfrm>
            <a:off x="762000" y="2324100"/>
            <a:ext cx="8686800" cy="4247317"/>
          </a:xfrm>
          <a:prstGeom prst="rect">
            <a:avLst/>
          </a:prstGeom>
          <a:noFill/>
        </p:spPr>
        <p:txBody>
          <a:bodyPr wrap="square" rtlCol="0">
            <a:spAutoFit/>
          </a:bodyPr>
          <a:lstStyle/>
          <a:p>
            <a:r>
              <a:rPr lang="vi-VN" sz="3000" b="1" i="0" dirty="0">
                <a:solidFill>
                  <a:srgbClr val="0070C0"/>
                </a:solidFill>
                <a:effectLst/>
                <a:latin typeface="+mj-lt"/>
              </a:rPr>
              <a:t>Grok</a:t>
            </a:r>
            <a:r>
              <a:rPr lang="vi-VN" sz="3000" b="1" i="0" u="none" strike="noStrike" dirty="0">
                <a:solidFill>
                  <a:srgbClr val="0070C0"/>
                </a:solidFill>
                <a:effectLst/>
                <a:latin typeface="+mj-lt"/>
              </a:rPr>
              <a:t> </a:t>
            </a:r>
            <a:r>
              <a:rPr lang="vi-VN" sz="3000" b="1" i="0" u="none" strike="noStrike" dirty="0">
                <a:solidFill>
                  <a:schemeClr val="bg1"/>
                </a:solidFill>
                <a:effectLst/>
                <a:latin typeface="+mj-lt"/>
              </a:rPr>
              <a:t>là một công cụ AI thân thiện, hướng tới việc chat và tạo nội dung, đặc biệt tích hợp tốt với mạng xã hội. Nó gợi ý ý tưởng sáng tạo, tương tác gần gũi với người dùng. Nhưng dữ liệu của Grok còn hạn chế so với ChatGPT, và đôi khi câu trả lời của nó không hoàn toàn chuẩn xác. Do đó, Grok phù hợp hơn với việc sáng tạo ý tưởng hoặc viết content cho mạng xã hội, nhưng không nên dùng cho nghiên cứu chuyên sâu.</a:t>
            </a:r>
            <a:endParaRPr lang="en-VN" sz="3000" b="1" dirty="0">
              <a:solidFill>
                <a:schemeClr val="bg1"/>
              </a:solidFill>
              <a:latin typeface="+mj-lt"/>
            </a:endParaRPr>
          </a:p>
        </p:txBody>
      </p:sp>
      <p:sp>
        <p:nvSpPr>
          <p:cNvPr id="11" name="TextBox 10">
            <a:extLst>
              <a:ext uri="{FF2B5EF4-FFF2-40B4-BE49-F238E27FC236}">
                <a16:creationId xmlns:a16="http://schemas.microsoft.com/office/drawing/2014/main" id="{B0E39697-DBB4-1A48-956A-844762B935A2}"/>
              </a:ext>
            </a:extLst>
          </p:cNvPr>
          <p:cNvSpPr txBox="1"/>
          <p:nvPr/>
        </p:nvSpPr>
        <p:spPr>
          <a:xfrm>
            <a:off x="9812215" y="5344255"/>
            <a:ext cx="8458200" cy="4939814"/>
          </a:xfrm>
          <a:prstGeom prst="rect">
            <a:avLst/>
          </a:prstGeom>
          <a:noFill/>
        </p:spPr>
        <p:txBody>
          <a:bodyPr wrap="square" rtlCol="0">
            <a:spAutoFit/>
          </a:bodyPr>
          <a:lstStyle/>
          <a:p>
            <a:r>
              <a:rPr lang="vi-VN" sz="3500" b="1" i="0" dirty="0">
                <a:solidFill>
                  <a:srgbClr val="0070C0"/>
                </a:solidFill>
                <a:effectLst/>
                <a:latin typeface="+mj-lt"/>
              </a:rPr>
              <a:t>DeepSeek</a:t>
            </a:r>
            <a:r>
              <a:rPr lang="vi-VN" sz="3500" b="1" i="0" u="none" strike="noStrike" dirty="0">
                <a:solidFill>
                  <a:schemeClr val="bg1"/>
                </a:solidFill>
                <a:effectLst/>
                <a:latin typeface="+mj-lt"/>
              </a:rPr>
              <a:t> là công cụ tập trung vào phân tích dữ liệu và tìm kiếm nâng cao. Nó rất mạnh trong việc tổng hợp thông tin, phân tích thị trường và hỗ trợ ra quyết định dựa trên dữ liệu lớn. Điểm hạn chế là giao diện phức tạp và người mới bắt đầu sẽ gặp khó khăn khi sử dụng. Vì vậy, DeepSeek thường được dùng trong doanh nghiệp hoặc nghiên cứu chuyên sâu.</a:t>
            </a:r>
            <a:endParaRPr lang="en-VN" sz="3500" b="1" dirty="0">
              <a:solidFill>
                <a:schemeClr val="bg1"/>
              </a:solidFill>
              <a:latin typeface="+mj-lt"/>
            </a:endParaRPr>
          </a:p>
        </p:txBody>
      </p:sp>
    </p:spTree>
    <p:extLst>
      <p:ext uri="{BB962C8B-B14F-4D97-AF65-F5344CB8AC3E}">
        <p14:creationId xmlns:p14="http://schemas.microsoft.com/office/powerpoint/2010/main" val="166355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5" name="Freeform 5"/>
          <p:cNvSpPr/>
          <p:nvPr/>
        </p:nvSpPr>
        <p:spPr>
          <a:xfrm>
            <a:off x="576176" y="4338525"/>
            <a:ext cx="6068489" cy="5395438"/>
          </a:xfrm>
          <a:custGeom>
            <a:avLst/>
            <a:gdLst/>
            <a:ahLst/>
            <a:cxnLst/>
            <a:rect l="l" t="t" r="r" b="b"/>
            <a:pathLst>
              <a:path w="6068489" h="5395438">
                <a:moveTo>
                  <a:pt x="0" y="0"/>
                </a:moveTo>
                <a:lnTo>
                  <a:pt x="6068489" y="0"/>
                </a:lnTo>
                <a:lnTo>
                  <a:pt x="6068489" y="5395438"/>
                </a:lnTo>
                <a:lnTo>
                  <a:pt x="0" y="539543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9" name="TextBox 8">
            <a:extLst>
              <a:ext uri="{FF2B5EF4-FFF2-40B4-BE49-F238E27FC236}">
                <a16:creationId xmlns:a16="http://schemas.microsoft.com/office/drawing/2014/main" id="{26957E42-450F-6F4F-B28D-52A8A8DF1A2C}"/>
              </a:ext>
            </a:extLst>
          </p:cNvPr>
          <p:cNvSpPr txBox="1"/>
          <p:nvPr/>
        </p:nvSpPr>
        <p:spPr>
          <a:xfrm>
            <a:off x="1025656" y="1051204"/>
            <a:ext cx="5619009" cy="1938992"/>
          </a:xfrm>
          <a:prstGeom prst="rect">
            <a:avLst/>
          </a:prstGeom>
          <a:noFill/>
        </p:spPr>
        <p:txBody>
          <a:bodyPr wrap="square" rtlCol="0">
            <a:spAutoFit/>
          </a:bodyPr>
          <a:lstStyle/>
          <a:p>
            <a:r>
              <a:rPr lang="en-VN" sz="6000" b="1" dirty="0">
                <a:solidFill>
                  <a:schemeClr val="bg1"/>
                </a:solidFill>
                <a:latin typeface="Times New Roman" panose="02020603050405020304" pitchFamily="18" charset="0"/>
                <a:cs typeface="Times New Roman" panose="02020603050405020304" pitchFamily="18" charset="0"/>
              </a:rPr>
              <a:t>HÌNH ẢNH NGHIÊN CỨU</a:t>
            </a:r>
          </a:p>
        </p:txBody>
      </p:sp>
      <p:pic>
        <p:nvPicPr>
          <p:cNvPr id="7" name="Picture 6">
            <a:extLst>
              <a:ext uri="{FF2B5EF4-FFF2-40B4-BE49-F238E27FC236}">
                <a16:creationId xmlns:a16="http://schemas.microsoft.com/office/drawing/2014/main" id="{3703B1CF-1707-424F-BF3D-AB76E705F8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62800" y="3010711"/>
            <a:ext cx="9891636" cy="5395438"/>
          </a:xfrm>
          <a:prstGeom prst="rect">
            <a:avLst/>
          </a:prstGeom>
        </p:spPr>
      </p:pic>
    </p:spTree>
    <p:extLst>
      <p:ext uri="{BB962C8B-B14F-4D97-AF65-F5344CB8AC3E}">
        <p14:creationId xmlns:p14="http://schemas.microsoft.com/office/powerpoint/2010/main" val="443699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6" name="TextBox 6"/>
          <p:cNvSpPr txBox="1"/>
          <p:nvPr/>
        </p:nvSpPr>
        <p:spPr>
          <a:xfrm>
            <a:off x="762000" y="985585"/>
            <a:ext cx="10162111" cy="692497"/>
          </a:xfrm>
          <a:prstGeom prst="rect">
            <a:avLst/>
          </a:prstGeom>
        </p:spPr>
        <p:txBody>
          <a:bodyPr lIns="0" tIns="0" rIns="0" bIns="0" rtlCol="0" anchor="t">
            <a:spAutoFit/>
          </a:bodyPr>
          <a:lstStyle/>
          <a:p>
            <a:pPr algn="l"/>
            <a:r>
              <a:rPr lang="vi-VN" sz="4500" b="1" i="0" dirty="0">
                <a:solidFill>
                  <a:schemeClr val="bg1"/>
                </a:solidFill>
                <a:effectLst/>
                <a:latin typeface="Times New Roman" panose="02020603050405020304" pitchFamily="18" charset="0"/>
                <a:cs typeface="Times New Roman" panose="02020603050405020304" pitchFamily="18" charset="0"/>
              </a:rPr>
              <a:t>VIDEO MINH HOẠ</a:t>
            </a:r>
          </a:p>
        </p:txBody>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4">
            <a:extLst>
              <a:ext uri="{FF2B5EF4-FFF2-40B4-BE49-F238E27FC236}">
                <a16:creationId xmlns:a16="http://schemas.microsoft.com/office/drawing/2014/main" id="{B04B045C-6928-E645-8BC7-76F6BA9ECB7C}"/>
              </a:ext>
            </a:extLst>
          </p:cNvPr>
          <p:cNvSpPr txBox="1"/>
          <p:nvPr/>
        </p:nvSpPr>
        <p:spPr>
          <a:xfrm>
            <a:off x="2209800" y="4582948"/>
            <a:ext cx="15621000" cy="784830"/>
          </a:xfrm>
          <a:prstGeom prst="rect">
            <a:avLst/>
          </a:prstGeom>
          <a:noFill/>
        </p:spPr>
        <p:txBody>
          <a:bodyPr wrap="square" rtlCol="0">
            <a:spAutoFit/>
          </a:bodyPr>
          <a:lstStyle/>
          <a:p>
            <a:r>
              <a:rPr lang="en-VN" sz="4500" b="1" dirty="0">
                <a:solidFill>
                  <a:schemeClr val="bg1"/>
                </a:solidFill>
                <a:latin typeface="Times New Roman" panose="02020603050405020304" pitchFamily="18" charset="0"/>
                <a:cs typeface="Times New Roman" panose="02020603050405020304" pitchFamily="18" charset="0"/>
              </a:rPr>
              <a:t>Link video trên youtuber:</a:t>
            </a:r>
            <a:r>
              <a:rPr lang="en-US" sz="4500" b="1" dirty="0">
                <a:solidFill>
                  <a:schemeClr val="bg1"/>
                </a:solidFill>
                <a:latin typeface="Times New Roman" panose="02020603050405020304" pitchFamily="18" charset="0"/>
                <a:cs typeface="Times New Roman" panose="02020603050405020304" pitchFamily="18" charset="0"/>
              </a:rPr>
              <a:t>https://</a:t>
            </a:r>
            <a:r>
              <a:rPr lang="en-US" sz="4500" b="1" dirty="0" err="1">
                <a:solidFill>
                  <a:schemeClr val="bg1"/>
                </a:solidFill>
                <a:latin typeface="Times New Roman" panose="02020603050405020304" pitchFamily="18" charset="0"/>
                <a:cs typeface="Times New Roman" panose="02020603050405020304" pitchFamily="18" charset="0"/>
              </a:rPr>
              <a:t>youtu.be</a:t>
            </a:r>
            <a:r>
              <a:rPr lang="en-US" sz="4500" b="1" dirty="0">
                <a:solidFill>
                  <a:schemeClr val="bg1"/>
                </a:solidFill>
                <a:latin typeface="Times New Roman" panose="02020603050405020304" pitchFamily="18" charset="0"/>
                <a:cs typeface="Times New Roman" panose="02020603050405020304" pitchFamily="18" charset="0"/>
              </a:rPr>
              <a:t>/DWhWSnKao2k</a:t>
            </a:r>
            <a:endParaRPr lang="en-VN" sz="4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1422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4" name="TextBox 4"/>
          <p:cNvSpPr txBox="1"/>
          <p:nvPr/>
        </p:nvSpPr>
        <p:spPr>
          <a:xfrm>
            <a:off x="762000" y="992322"/>
            <a:ext cx="15370885" cy="1161408"/>
          </a:xfrm>
          <a:prstGeom prst="rect">
            <a:avLst/>
          </a:prstGeom>
        </p:spPr>
        <p:txBody>
          <a:bodyPr lIns="0" tIns="0" rIns="0" bIns="0" rtlCol="0" anchor="t">
            <a:spAutoFit/>
          </a:bodyPr>
          <a:lstStyle/>
          <a:p>
            <a:pPr algn="l">
              <a:lnSpc>
                <a:spcPts val="10200"/>
              </a:lnSpc>
            </a:pPr>
            <a:r>
              <a:rPr lang="en-US" sz="6000" b="1" dirty="0">
                <a:solidFill>
                  <a:schemeClr val="bg1"/>
                </a:solidFill>
                <a:latin typeface="Times New Roman" panose="02020603050405020304" pitchFamily="18" charset="0"/>
                <a:ea typeface="League Spartan"/>
                <a:cs typeface="Times New Roman" panose="02020603050405020304" pitchFamily="18" charset="0"/>
                <a:sym typeface="League Spartan"/>
              </a:rPr>
              <a:t>ƯU VÀ NHƯỢC ĐIỂM CHUNG</a:t>
            </a:r>
          </a:p>
        </p:txBody>
      </p:sp>
      <p:sp>
        <p:nvSpPr>
          <p:cNvPr id="5" name="Freeform 5"/>
          <p:cNvSpPr/>
          <p:nvPr/>
        </p:nvSpPr>
        <p:spPr>
          <a:xfrm>
            <a:off x="576176" y="4338525"/>
            <a:ext cx="6068489" cy="5395438"/>
          </a:xfrm>
          <a:custGeom>
            <a:avLst/>
            <a:gdLst/>
            <a:ahLst/>
            <a:cxnLst/>
            <a:rect l="l" t="t" r="r" b="b"/>
            <a:pathLst>
              <a:path w="6068489" h="5395438">
                <a:moveTo>
                  <a:pt x="0" y="0"/>
                </a:moveTo>
                <a:lnTo>
                  <a:pt x="6068489" y="0"/>
                </a:lnTo>
                <a:lnTo>
                  <a:pt x="6068489" y="5395438"/>
                </a:lnTo>
                <a:lnTo>
                  <a:pt x="0" y="539543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1">
            <a:extLst>
              <a:ext uri="{FF2B5EF4-FFF2-40B4-BE49-F238E27FC236}">
                <a16:creationId xmlns:a16="http://schemas.microsoft.com/office/drawing/2014/main" id="{1F89BFDC-0411-E54A-A676-F02FB9800B74}"/>
              </a:ext>
            </a:extLst>
          </p:cNvPr>
          <p:cNvSpPr txBox="1"/>
          <p:nvPr/>
        </p:nvSpPr>
        <p:spPr>
          <a:xfrm>
            <a:off x="8229600" y="3176406"/>
            <a:ext cx="9274885" cy="5632311"/>
          </a:xfrm>
          <a:prstGeom prst="rect">
            <a:avLst/>
          </a:prstGeom>
          <a:noFill/>
        </p:spPr>
        <p:txBody>
          <a:bodyPr wrap="square" rtlCol="0">
            <a:spAutoFit/>
          </a:bodyPr>
          <a:lstStyle/>
          <a:p>
            <a:pPr algn="l"/>
            <a:r>
              <a:rPr lang="vi-VN" sz="4000" b="1" i="0" dirty="0">
                <a:solidFill>
                  <a:schemeClr val="bg1"/>
                </a:solidFill>
                <a:effectLst/>
                <a:latin typeface="+mj-lt"/>
              </a:rPr>
              <a:t>-  </a:t>
            </a:r>
            <a:r>
              <a:rPr lang="vi-VN" sz="4000" b="1" i="0" dirty="0">
                <a:solidFill>
                  <a:srgbClr val="0070C0"/>
                </a:solidFill>
                <a:effectLst/>
                <a:latin typeface="+mj-lt"/>
              </a:rPr>
              <a:t>Ưu điểm:</a:t>
            </a:r>
          </a:p>
          <a:p>
            <a:pPr algn="l">
              <a:buFont typeface="Arial" panose="020B0604020202020204" pitchFamily="34" charset="0"/>
              <a:buChar char="•"/>
            </a:pPr>
            <a:r>
              <a:rPr lang="vi-VN" sz="4000" b="1" i="0" dirty="0">
                <a:solidFill>
                  <a:schemeClr val="bg1"/>
                </a:solidFill>
                <a:effectLst/>
                <a:latin typeface="+mj-lt"/>
              </a:rPr>
              <a:t>Nhanh</a:t>
            </a:r>
          </a:p>
          <a:p>
            <a:pPr algn="l">
              <a:buFont typeface="Arial" panose="020B0604020202020204" pitchFamily="34" charset="0"/>
              <a:buChar char="•"/>
            </a:pPr>
            <a:r>
              <a:rPr lang="vi-VN" sz="4000" b="1" i="0" dirty="0">
                <a:solidFill>
                  <a:schemeClr val="bg1"/>
                </a:solidFill>
                <a:effectLst/>
                <a:latin typeface="+mj-lt"/>
              </a:rPr>
              <a:t>Tiện lợi</a:t>
            </a:r>
          </a:p>
          <a:p>
            <a:pPr algn="l">
              <a:buFont typeface="Arial" panose="020B0604020202020204" pitchFamily="34" charset="0"/>
              <a:buChar char="•"/>
            </a:pPr>
            <a:r>
              <a:rPr lang="vi-VN" sz="4000" b="1" i="0" dirty="0">
                <a:solidFill>
                  <a:schemeClr val="bg1"/>
                </a:solidFill>
                <a:effectLst/>
                <a:latin typeface="+mj-lt"/>
              </a:rPr>
              <a:t>Tiết kiệm thời gian</a:t>
            </a:r>
          </a:p>
          <a:p>
            <a:pPr algn="l"/>
            <a:r>
              <a:rPr lang="vi-VN" sz="4000" b="1" i="0" dirty="0">
                <a:solidFill>
                  <a:schemeClr val="bg1"/>
                </a:solidFill>
                <a:effectLst/>
                <a:latin typeface="+mj-lt"/>
              </a:rPr>
              <a:t>-  </a:t>
            </a:r>
            <a:r>
              <a:rPr lang="vi-VN" sz="4000" b="1" i="0" dirty="0">
                <a:solidFill>
                  <a:srgbClr val="0070C0"/>
                </a:solidFill>
                <a:effectLst/>
                <a:latin typeface="+mj-lt"/>
              </a:rPr>
              <a:t>Nhược điểm:</a:t>
            </a:r>
          </a:p>
          <a:p>
            <a:pPr algn="l">
              <a:buFont typeface="Arial" panose="020B0604020202020204" pitchFamily="34" charset="0"/>
              <a:buChar char="•"/>
            </a:pPr>
            <a:r>
              <a:rPr lang="vi-VN" sz="4000" b="1" i="0" dirty="0">
                <a:solidFill>
                  <a:schemeClr val="bg1"/>
                </a:solidFill>
                <a:effectLst/>
                <a:latin typeface="+mj-lt"/>
              </a:rPr>
              <a:t>Có thể sai</a:t>
            </a:r>
          </a:p>
          <a:p>
            <a:pPr algn="l">
              <a:buFont typeface="Arial" panose="020B0604020202020204" pitchFamily="34" charset="0"/>
              <a:buChar char="•"/>
            </a:pPr>
            <a:r>
              <a:rPr lang="vi-VN" sz="4000" b="1" i="0" dirty="0">
                <a:solidFill>
                  <a:schemeClr val="bg1"/>
                </a:solidFill>
                <a:effectLst/>
                <a:latin typeface="+mj-lt"/>
              </a:rPr>
              <a:t>Phụ thuộc AI</a:t>
            </a:r>
          </a:p>
          <a:p>
            <a:pPr algn="l">
              <a:buFont typeface="Arial" panose="020B0604020202020204" pitchFamily="34" charset="0"/>
              <a:buChar char="•"/>
            </a:pPr>
            <a:r>
              <a:rPr lang="vi-VN" sz="4000" b="1" i="0" dirty="0">
                <a:solidFill>
                  <a:schemeClr val="bg1"/>
                </a:solidFill>
                <a:effectLst/>
                <a:latin typeface="+mj-lt"/>
              </a:rPr>
              <a:t>Vấn đề bản quyền</a:t>
            </a:r>
          </a:p>
          <a:p>
            <a:endParaRPr lang="en-VN" sz="4000" b="1" dirty="0">
              <a:solidFill>
                <a:schemeClr val="bg1"/>
              </a:solidFill>
              <a:latin typeface="+mj-lt"/>
            </a:endParaRPr>
          </a:p>
        </p:txBody>
      </p:sp>
    </p:spTree>
    <p:extLst>
      <p:ext uri="{BB962C8B-B14F-4D97-AF65-F5344CB8AC3E}">
        <p14:creationId xmlns:p14="http://schemas.microsoft.com/office/powerpoint/2010/main" val="1406245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6" name="TextBox 6"/>
          <p:cNvSpPr txBox="1"/>
          <p:nvPr/>
        </p:nvSpPr>
        <p:spPr>
          <a:xfrm>
            <a:off x="762000" y="985585"/>
            <a:ext cx="10162111" cy="692497"/>
          </a:xfrm>
          <a:prstGeom prst="rect">
            <a:avLst/>
          </a:prstGeom>
        </p:spPr>
        <p:txBody>
          <a:bodyPr lIns="0" tIns="0" rIns="0" bIns="0" rtlCol="0" anchor="t">
            <a:spAutoFit/>
          </a:bodyPr>
          <a:lstStyle/>
          <a:p>
            <a:pPr algn="l"/>
            <a:r>
              <a:rPr lang="vi-VN" sz="4500" b="1" i="0" dirty="0">
                <a:solidFill>
                  <a:schemeClr val="bg1"/>
                </a:solidFill>
                <a:effectLst/>
                <a:latin typeface="Times New Roman" panose="02020603050405020304" pitchFamily="18" charset="0"/>
                <a:cs typeface="Times New Roman" panose="02020603050405020304" pitchFamily="18" charset="0"/>
              </a:rPr>
              <a:t>BẢO MẬT KHI SỬ DỤNG AI</a:t>
            </a:r>
          </a:p>
        </p:txBody>
      </p:sp>
      <p:sp>
        <p:nvSpPr>
          <p:cNvPr id="7" name="Freeform 7"/>
          <p:cNvSpPr/>
          <p:nvPr/>
        </p:nvSpPr>
        <p:spPr>
          <a:xfrm rot="-10800000">
            <a:off x="14599713" y="2014998"/>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3AAF78DD-79B9-4E4C-B682-5F00B9DB4C6F}"/>
              </a:ext>
            </a:extLst>
          </p:cNvPr>
          <p:cNvSpPr txBox="1"/>
          <p:nvPr/>
        </p:nvSpPr>
        <p:spPr>
          <a:xfrm>
            <a:off x="762000" y="2324100"/>
            <a:ext cx="8686800" cy="4247317"/>
          </a:xfrm>
          <a:prstGeom prst="rect">
            <a:avLst/>
          </a:prstGeom>
          <a:noFill/>
        </p:spPr>
        <p:txBody>
          <a:bodyPr wrap="square" rtlCol="0">
            <a:spAutoFit/>
          </a:bodyPr>
          <a:lstStyle/>
          <a:p>
            <a:r>
              <a:rPr lang="vi-VN" sz="3000" b="1" dirty="0">
                <a:solidFill>
                  <a:srgbClr val="0070C0"/>
                </a:solidFill>
                <a:latin typeface="+mj-lt"/>
              </a:rPr>
              <a:t>Nguy cơ:</a:t>
            </a:r>
          </a:p>
          <a:p>
            <a:r>
              <a:rPr lang="vi-VN" sz="3000" b="1" dirty="0">
                <a:solidFill>
                  <a:schemeClr val="bg1"/>
                </a:solidFill>
                <a:latin typeface="+mj-lt"/>
              </a:rPr>
              <a:t>Lộ dữ liệu cá nhân: Khi nhập thông tin nhạy cảm vào AI, dữ liệu có thể bị lưu trữ hoặc rò rỉ nếu hệ thống không bảo mật tốt.AI lưu thông tin và sử dụng dữ liệu: Một số AI có thể ghi nhớ nội dung trò chuyện hoặc sử dụng dữ liệu người dùng để huấn luyện mô hình.Nguy cơ bị tấn công hoặc đánh cắp thông tin: Nếu AI được tích hợp trong môi trường không an toàn, hacker có thể khai thác dữ liệu.</a:t>
            </a:r>
            <a:endParaRPr lang="en-VN" sz="3000" b="1" dirty="0">
              <a:solidFill>
                <a:schemeClr val="bg1"/>
              </a:solidFill>
              <a:latin typeface="+mj-lt"/>
            </a:endParaRPr>
          </a:p>
        </p:txBody>
      </p:sp>
      <p:sp>
        <p:nvSpPr>
          <p:cNvPr id="11" name="TextBox 10">
            <a:extLst>
              <a:ext uri="{FF2B5EF4-FFF2-40B4-BE49-F238E27FC236}">
                <a16:creationId xmlns:a16="http://schemas.microsoft.com/office/drawing/2014/main" id="{B0E39697-DBB4-1A48-956A-844762B935A2}"/>
              </a:ext>
            </a:extLst>
          </p:cNvPr>
          <p:cNvSpPr txBox="1"/>
          <p:nvPr/>
        </p:nvSpPr>
        <p:spPr>
          <a:xfrm>
            <a:off x="9829800" y="5753100"/>
            <a:ext cx="8458200" cy="4247317"/>
          </a:xfrm>
          <a:prstGeom prst="rect">
            <a:avLst/>
          </a:prstGeom>
          <a:noFill/>
        </p:spPr>
        <p:txBody>
          <a:bodyPr wrap="square" rtlCol="0">
            <a:spAutoFit/>
          </a:bodyPr>
          <a:lstStyle/>
          <a:p>
            <a:r>
              <a:rPr lang="vi-VN" sz="3000" b="1" dirty="0">
                <a:solidFill>
                  <a:srgbClr val="0070C0"/>
                </a:solidFill>
                <a:latin typeface="+mj-lt"/>
              </a:rPr>
              <a:t>Giải pháp :</a:t>
            </a:r>
          </a:p>
          <a:p>
            <a:r>
              <a:rPr lang="vi-VN" sz="3000" b="1" dirty="0">
                <a:solidFill>
                  <a:schemeClr val="bg1"/>
                </a:solidFill>
                <a:latin typeface="+mj-lt"/>
              </a:rPr>
              <a:t>Không nhập thông tin cá nhân nhạy cảm: Tránh đưa số điện thoại, mật khẩu, thông tin ngân hàng… vào AI.Kiểm tra nguồn và xác minh dữ liệu: Chỉ sử dụng AI từ các nền tảng uy tín, kiểm tra thông tin trước khi sử dụng cho nghiên cứu hoặc quyết định quan trọng.Sử dụng các tính năng bảo mật: Kích hoạt quyền riêng tư, xóa lịch sử trò chuyện, hạn chế chia sẻ dữ liệu với bên thứ ba.</a:t>
            </a:r>
            <a:endParaRPr lang="en-VN" sz="3000" b="1" dirty="0">
              <a:solidFill>
                <a:schemeClr val="bg1"/>
              </a:solidFill>
              <a:latin typeface="+mj-lt"/>
            </a:endParaRPr>
          </a:p>
        </p:txBody>
      </p:sp>
    </p:spTree>
    <p:extLst>
      <p:ext uri="{BB962C8B-B14F-4D97-AF65-F5344CB8AC3E}">
        <p14:creationId xmlns:p14="http://schemas.microsoft.com/office/powerpoint/2010/main" val="348617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446604" y="5362276"/>
            <a:ext cx="4452533" cy="6928824"/>
          </a:xfrm>
          <a:custGeom>
            <a:avLst/>
            <a:gdLst/>
            <a:ahLst/>
            <a:cxnLst/>
            <a:rect l="l" t="t" r="r" b="b"/>
            <a:pathLst>
              <a:path w="4452533" h="6928824">
                <a:moveTo>
                  <a:pt x="4452533" y="6928824"/>
                </a:moveTo>
                <a:lnTo>
                  <a:pt x="0" y="6928824"/>
                </a:lnTo>
                <a:lnTo>
                  <a:pt x="0" y="0"/>
                </a:lnTo>
                <a:lnTo>
                  <a:pt x="4452533" y="0"/>
                </a:lnTo>
                <a:lnTo>
                  <a:pt x="4452533" y="69288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14086" y="9065707"/>
            <a:ext cx="5966923" cy="1562249"/>
          </a:xfrm>
          <a:custGeom>
            <a:avLst/>
            <a:gdLst/>
            <a:ahLst/>
            <a:cxnLst/>
            <a:rect l="l" t="t" r="r" b="b"/>
            <a:pathLst>
              <a:path w="5966923" h="1562249">
                <a:moveTo>
                  <a:pt x="0" y="0"/>
                </a:moveTo>
                <a:lnTo>
                  <a:pt x="5966923" y="0"/>
                </a:lnTo>
                <a:lnTo>
                  <a:pt x="5966923" y="1562249"/>
                </a:lnTo>
                <a:lnTo>
                  <a:pt x="0" y="1562249"/>
                </a:lnTo>
                <a:lnTo>
                  <a:pt x="0" y="0"/>
                </a:lnTo>
                <a:close/>
              </a:path>
            </a:pathLst>
          </a:custGeom>
          <a:blipFill>
            <a:blip r:embed="rId4"/>
            <a:stretch>
              <a:fillRect/>
            </a:stretch>
          </a:blipFill>
        </p:spPr>
      </p:sp>
      <p:sp>
        <p:nvSpPr>
          <p:cNvPr id="5" name="Freeform 5"/>
          <p:cNvSpPr/>
          <p:nvPr/>
        </p:nvSpPr>
        <p:spPr>
          <a:xfrm>
            <a:off x="576176" y="4338525"/>
            <a:ext cx="6068489" cy="5395438"/>
          </a:xfrm>
          <a:custGeom>
            <a:avLst/>
            <a:gdLst/>
            <a:ahLst/>
            <a:cxnLst/>
            <a:rect l="l" t="t" r="r" b="b"/>
            <a:pathLst>
              <a:path w="6068489" h="5395438">
                <a:moveTo>
                  <a:pt x="0" y="0"/>
                </a:moveTo>
                <a:lnTo>
                  <a:pt x="6068489" y="0"/>
                </a:lnTo>
                <a:lnTo>
                  <a:pt x="6068489" y="5395438"/>
                </a:lnTo>
                <a:lnTo>
                  <a:pt x="0" y="539543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7988937" y="1943100"/>
            <a:ext cx="10162111" cy="6647974"/>
          </a:xfrm>
          <a:prstGeom prst="rect">
            <a:avLst/>
          </a:prstGeom>
        </p:spPr>
        <p:txBody>
          <a:bodyPr lIns="0" tIns="0" rIns="0" bIns="0" rtlCol="0" anchor="t">
            <a:spAutoFit/>
          </a:bodyPr>
          <a:lstStyle/>
          <a:p>
            <a:pPr algn="l">
              <a:buFont typeface="Arial" panose="020B0604020202020204" pitchFamily="34" charset="0"/>
              <a:buChar char="•"/>
            </a:pPr>
            <a:r>
              <a:rPr lang="en-US" sz="5400" b="1" i="0" dirty="0" err="1">
                <a:solidFill>
                  <a:schemeClr val="bg1"/>
                </a:solidFill>
                <a:effectLst/>
                <a:latin typeface="Times New Roman" panose="02020603050405020304" pitchFamily="18" charset="0"/>
                <a:cs typeface="Times New Roman" panose="02020603050405020304" pitchFamily="18" charset="0"/>
              </a:rPr>
              <a:t>Dùng</a:t>
            </a:r>
            <a:r>
              <a:rPr lang="en-US" sz="5400" b="1" i="0" dirty="0">
                <a:solidFill>
                  <a:schemeClr val="bg1"/>
                </a:solidFill>
                <a:effectLst/>
                <a:latin typeface="Times New Roman" panose="02020603050405020304" pitchFamily="18" charset="0"/>
                <a:cs typeface="Times New Roman" panose="02020603050405020304" pitchFamily="18" charset="0"/>
              </a:rPr>
              <a:t> AI </a:t>
            </a:r>
            <a:r>
              <a:rPr lang="en-US" sz="5400" b="1" i="0" dirty="0" err="1">
                <a:solidFill>
                  <a:schemeClr val="bg1"/>
                </a:solidFill>
                <a:effectLst/>
                <a:latin typeface="Times New Roman" panose="02020603050405020304" pitchFamily="18" charset="0"/>
                <a:cs typeface="Times New Roman" panose="02020603050405020304" pitchFamily="18" charset="0"/>
              </a:rPr>
              <a:t>để</a:t>
            </a:r>
            <a:r>
              <a:rPr lang="en-US" sz="5400" b="1" i="0" dirty="0">
                <a:solidFill>
                  <a:schemeClr val="bg1"/>
                </a:solidFill>
                <a:effectLst/>
                <a:latin typeface="Times New Roman" panose="02020603050405020304" pitchFamily="18" charset="0"/>
                <a:cs typeface="Times New Roman" panose="02020603050405020304" pitchFamily="18" charset="0"/>
              </a:rPr>
              <a:t> </a:t>
            </a:r>
            <a:r>
              <a:rPr lang="en-US" sz="5400" b="1" i="0" dirty="0" err="1">
                <a:solidFill>
                  <a:schemeClr val="bg1"/>
                </a:solidFill>
                <a:effectLst/>
                <a:latin typeface="Times New Roman" panose="02020603050405020304" pitchFamily="18" charset="0"/>
                <a:cs typeface="Times New Roman" panose="02020603050405020304" pitchFamily="18" charset="0"/>
              </a:rPr>
              <a:t>tìm</a:t>
            </a:r>
            <a:r>
              <a:rPr lang="en-US" sz="5400" b="1" i="0" dirty="0">
                <a:solidFill>
                  <a:schemeClr val="bg1"/>
                </a:solidFill>
                <a:effectLst/>
                <a:latin typeface="Times New Roman" panose="02020603050405020304" pitchFamily="18" charset="0"/>
                <a:cs typeface="Times New Roman" panose="02020603050405020304" pitchFamily="18" charset="0"/>
              </a:rPr>
              <a:t> </a:t>
            </a:r>
            <a:r>
              <a:rPr lang="en-US" sz="5400" b="1" i="0" dirty="0" err="1">
                <a:solidFill>
                  <a:schemeClr val="bg1"/>
                </a:solidFill>
                <a:effectLst/>
                <a:latin typeface="Times New Roman" panose="02020603050405020304" pitchFamily="18" charset="0"/>
                <a:cs typeface="Times New Roman" panose="02020603050405020304" pitchFamily="18" charset="0"/>
              </a:rPr>
              <a:t>thông</a:t>
            </a:r>
            <a:r>
              <a:rPr lang="en-US" sz="5400" b="1" i="0" dirty="0">
                <a:solidFill>
                  <a:schemeClr val="bg1"/>
                </a:solidFill>
                <a:effectLst/>
                <a:latin typeface="Times New Roman" panose="02020603050405020304" pitchFamily="18" charset="0"/>
                <a:cs typeface="Times New Roman" panose="02020603050405020304" pitchFamily="18" charset="0"/>
              </a:rPr>
              <a:t> tin</a:t>
            </a:r>
          </a:p>
          <a:p>
            <a:pPr algn="l">
              <a:buFont typeface="Arial" panose="020B0604020202020204" pitchFamily="34" charset="0"/>
              <a:buChar char="•"/>
            </a:pPr>
            <a:r>
              <a:rPr lang="en-US" sz="5400" b="1" i="0" dirty="0" err="1">
                <a:solidFill>
                  <a:schemeClr val="bg1"/>
                </a:solidFill>
                <a:effectLst/>
                <a:latin typeface="Times New Roman" panose="02020603050405020304" pitchFamily="18" charset="0"/>
                <a:cs typeface="Times New Roman" panose="02020603050405020304" pitchFamily="18" charset="0"/>
              </a:rPr>
              <a:t>Dùng</a:t>
            </a:r>
            <a:r>
              <a:rPr lang="en-US" sz="5400" b="1" i="0" dirty="0">
                <a:solidFill>
                  <a:schemeClr val="bg1"/>
                </a:solidFill>
                <a:effectLst/>
                <a:latin typeface="Times New Roman" panose="02020603050405020304" pitchFamily="18" charset="0"/>
                <a:cs typeface="Times New Roman" panose="02020603050405020304" pitchFamily="18" charset="0"/>
              </a:rPr>
              <a:t> CRAAP </a:t>
            </a:r>
            <a:r>
              <a:rPr lang="en-US" sz="5400" b="1" i="0" dirty="0" err="1">
                <a:solidFill>
                  <a:schemeClr val="bg1"/>
                </a:solidFill>
                <a:effectLst/>
                <a:latin typeface="Times New Roman" panose="02020603050405020304" pitchFamily="18" charset="0"/>
                <a:cs typeface="Times New Roman" panose="02020603050405020304" pitchFamily="18" charset="0"/>
              </a:rPr>
              <a:t>kiểm</a:t>
            </a:r>
            <a:r>
              <a:rPr lang="en-US" sz="5400" b="1" i="0" dirty="0">
                <a:solidFill>
                  <a:schemeClr val="bg1"/>
                </a:solidFill>
                <a:effectLst/>
                <a:latin typeface="Times New Roman" panose="02020603050405020304" pitchFamily="18" charset="0"/>
                <a:cs typeface="Times New Roman" panose="02020603050405020304" pitchFamily="18" charset="0"/>
              </a:rPr>
              <a:t> </a:t>
            </a:r>
            <a:r>
              <a:rPr lang="en-US" sz="5400" b="1" i="0" dirty="0" err="1">
                <a:solidFill>
                  <a:schemeClr val="bg1"/>
                </a:solidFill>
                <a:effectLst/>
                <a:latin typeface="Times New Roman" panose="02020603050405020304" pitchFamily="18" charset="0"/>
                <a:cs typeface="Times New Roman" panose="02020603050405020304" pitchFamily="18" charset="0"/>
              </a:rPr>
              <a:t>tra</a:t>
            </a:r>
            <a:endParaRPr lang="en-US" sz="5400" b="1" i="0" dirty="0">
              <a:solidFill>
                <a:schemeClr val="bg1"/>
              </a:solidFill>
              <a:effectLst/>
              <a:latin typeface="Times New Roman" panose="02020603050405020304" pitchFamily="18" charset="0"/>
              <a:cs typeface="Times New Roman" panose="02020603050405020304" pitchFamily="18" charset="0"/>
            </a:endParaRPr>
          </a:p>
          <a:p>
            <a:pPr algn="l"/>
            <a:r>
              <a:rPr lang="en-US" sz="5400" b="1" i="0" dirty="0">
                <a:solidFill>
                  <a:schemeClr val="bg1"/>
                </a:solidFill>
                <a:effectLst/>
                <a:latin typeface="Times New Roman" panose="02020603050405020304" pitchFamily="18" charset="0"/>
                <a:cs typeface="Times New Roman" panose="02020603050405020304" pitchFamily="18" charset="0"/>
              </a:rPr>
              <a:t>CRAAP </a:t>
            </a:r>
            <a:r>
              <a:rPr lang="en-US" sz="5400" b="1" i="0" dirty="0" err="1">
                <a:solidFill>
                  <a:schemeClr val="bg1"/>
                </a:solidFill>
                <a:effectLst/>
                <a:latin typeface="Times New Roman" panose="02020603050405020304" pitchFamily="18" charset="0"/>
                <a:cs typeface="Times New Roman" panose="02020603050405020304" pitchFamily="18" charset="0"/>
              </a:rPr>
              <a:t>gồm</a:t>
            </a:r>
            <a:r>
              <a:rPr lang="en-US" sz="5400" b="1" i="0" dirty="0">
                <a:solidFill>
                  <a:schemeClr val="bg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5400" b="1" i="0" dirty="0">
                <a:solidFill>
                  <a:schemeClr val="bg1"/>
                </a:solidFill>
                <a:effectLst/>
                <a:latin typeface="Times New Roman" panose="02020603050405020304" pitchFamily="18" charset="0"/>
                <a:cs typeface="Times New Roman" panose="02020603050405020304" pitchFamily="18" charset="0"/>
              </a:rPr>
              <a:t>Currency</a:t>
            </a:r>
          </a:p>
          <a:p>
            <a:pPr algn="l">
              <a:buFont typeface="Arial" panose="020B0604020202020204" pitchFamily="34" charset="0"/>
              <a:buChar char="•"/>
            </a:pPr>
            <a:r>
              <a:rPr lang="en-US" sz="5400" b="1" i="0" dirty="0">
                <a:solidFill>
                  <a:schemeClr val="bg1"/>
                </a:solidFill>
                <a:effectLst/>
                <a:latin typeface="Times New Roman" panose="02020603050405020304" pitchFamily="18" charset="0"/>
                <a:cs typeface="Times New Roman" panose="02020603050405020304" pitchFamily="18" charset="0"/>
              </a:rPr>
              <a:t>Relevance</a:t>
            </a:r>
          </a:p>
          <a:p>
            <a:pPr algn="l">
              <a:buFont typeface="Arial" panose="020B0604020202020204" pitchFamily="34" charset="0"/>
              <a:buChar char="•"/>
            </a:pPr>
            <a:r>
              <a:rPr lang="en-US" sz="5400" b="1" i="0" dirty="0">
                <a:solidFill>
                  <a:schemeClr val="bg1"/>
                </a:solidFill>
                <a:effectLst/>
                <a:latin typeface="Times New Roman" panose="02020603050405020304" pitchFamily="18" charset="0"/>
                <a:cs typeface="Times New Roman" panose="02020603050405020304" pitchFamily="18" charset="0"/>
              </a:rPr>
              <a:t>Authority</a:t>
            </a:r>
          </a:p>
          <a:p>
            <a:pPr algn="l">
              <a:buFont typeface="Arial" panose="020B0604020202020204" pitchFamily="34" charset="0"/>
              <a:buChar char="•"/>
            </a:pPr>
            <a:r>
              <a:rPr lang="en-US" sz="5400" b="1" i="0" dirty="0">
                <a:solidFill>
                  <a:schemeClr val="bg1"/>
                </a:solidFill>
                <a:effectLst/>
                <a:latin typeface="Times New Roman" panose="02020603050405020304" pitchFamily="18" charset="0"/>
                <a:cs typeface="Times New Roman" panose="02020603050405020304" pitchFamily="18" charset="0"/>
              </a:rPr>
              <a:t>Accuracy</a:t>
            </a:r>
          </a:p>
          <a:p>
            <a:pPr algn="l">
              <a:buFont typeface="Arial" panose="020B0604020202020204" pitchFamily="34" charset="0"/>
              <a:buChar char="•"/>
            </a:pPr>
            <a:r>
              <a:rPr lang="en-US" sz="5400" b="1" i="0" dirty="0">
                <a:solidFill>
                  <a:schemeClr val="bg1"/>
                </a:solidFill>
                <a:effectLst/>
                <a:latin typeface="Times New Roman" panose="02020603050405020304" pitchFamily="18" charset="0"/>
                <a:cs typeface="Times New Roman" panose="02020603050405020304" pitchFamily="18" charset="0"/>
              </a:rPr>
              <a:t>Purpose</a:t>
            </a:r>
          </a:p>
        </p:txBody>
      </p:sp>
      <p:sp>
        <p:nvSpPr>
          <p:cNvPr id="4" name="TextBox 3">
            <a:extLst>
              <a:ext uri="{FF2B5EF4-FFF2-40B4-BE49-F238E27FC236}">
                <a16:creationId xmlns:a16="http://schemas.microsoft.com/office/drawing/2014/main" id="{F5B6C384-C585-7649-96E7-06C5915C9B4B}"/>
              </a:ext>
            </a:extLst>
          </p:cNvPr>
          <p:cNvSpPr txBox="1"/>
          <p:nvPr/>
        </p:nvSpPr>
        <p:spPr>
          <a:xfrm>
            <a:off x="576176" y="1773964"/>
            <a:ext cx="6909311" cy="1938992"/>
          </a:xfrm>
          <a:prstGeom prst="rect">
            <a:avLst/>
          </a:prstGeom>
          <a:noFill/>
        </p:spPr>
        <p:txBody>
          <a:bodyPr wrap="square" rtlCol="0">
            <a:spAutoFit/>
          </a:bodyPr>
          <a:lstStyle/>
          <a:p>
            <a:r>
              <a:rPr lang="en-VN" sz="6000" b="1" dirty="0">
                <a:solidFill>
                  <a:schemeClr val="bg1"/>
                </a:solidFill>
                <a:latin typeface="Times New Roman" panose="02020603050405020304" pitchFamily="18" charset="0"/>
                <a:cs typeface="Times New Roman" panose="02020603050405020304" pitchFamily="18" charset="0"/>
              </a:rPr>
              <a:t>QUY TRÌNH NGHIÊN CỨU</a:t>
            </a:r>
          </a:p>
        </p:txBody>
      </p:sp>
    </p:spTree>
    <p:extLst>
      <p:ext uri="{BB962C8B-B14F-4D97-AF65-F5344CB8AC3E}">
        <p14:creationId xmlns:p14="http://schemas.microsoft.com/office/powerpoint/2010/main" val="4117470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12F32"/>
        </a:solidFill>
        <a:effectLst/>
      </p:bgPr>
    </p:bg>
    <p:spTree>
      <p:nvGrpSpPr>
        <p:cNvPr id="1" name=""/>
        <p:cNvGrpSpPr/>
        <p:nvPr/>
      </p:nvGrpSpPr>
      <p:grpSpPr>
        <a:xfrm>
          <a:off x="0" y="0"/>
          <a:ext cx="0" cy="0"/>
          <a:chOff x="0" y="0"/>
          <a:chExt cx="0" cy="0"/>
        </a:xfrm>
      </p:grpSpPr>
      <p:sp>
        <p:nvSpPr>
          <p:cNvPr id="2" name="Freeform 2"/>
          <p:cNvSpPr/>
          <p:nvPr/>
        </p:nvSpPr>
        <p:spPr>
          <a:xfrm rot="-5400000" flipH="1" flipV="1">
            <a:off x="206562" y="6465542"/>
            <a:ext cx="3589309" cy="5585515"/>
          </a:xfrm>
          <a:custGeom>
            <a:avLst/>
            <a:gdLst/>
            <a:ahLst/>
            <a:cxnLst/>
            <a:rect l="l" t="t" r="r" b="b"/>
            <a:pathLst>
              <a:path w="3589309" h="5585515">
                <a:moveTo>
                  <a:pt x="3589309" y="5585516"/>
                </a:moveTo>
                <a:lnTo>
                  <a:pt x="0" y="5585516"/>
                </a:lnTo>
                <a:lnTo>
                  <a:pt x="0" y="0"/>
                </a:lnTo>
                <a:lnTo>
                  <a:pt x="3589309" y="0"/>
                </a:lnTo>
                <a:lnTo>
                  <a:pt x="3589309" y="558551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a:off x="14492129" y="6465542"/>
            <a:ext cx="3589309" cy="5585515"/>
          </a:xfrm>
          <a:custGeom>
            <a:avLst/>
            <a:gdLst/>
            <a:ahLst/>
            <a:cxnLst/>
            <a:rect l="l" t="t" r="r" b="b"/>
            <a:pathLst>
              <a:path w="3589309" h="5585515">
                <a:moveTo>
                  <a:pt x="3589309" y="0"/>
                </a:moveTo>
                <a:lnTo>
                  <a:pt x="0" y="0"/>
                </a:lnTo>
                <a:lnTo>
                  <a:pt x="0" y="5585516"/>
                </a:lnTo>
                <a:lnTo>
                  <a:pt x="3589309" y="5585516"/>
                </a:lnTo>
                <a:lnTo>
                  <a:pt x="3589309"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56547" y="4346132"/>
            <a:ext cx="13574906" cy="4578176"/>
          </a:xfrm>
          <a:prstGeom prst="rect">
            <a:avLst/>
          </a:prstGeom>
        </p:spPr>
        <p:txBody>
          <a:bodyPr lIns="0" tIns="0" rIns="0" bIns="0" rtlCol="0" anchor="t">
            <a:spAutoFit/>
          </a:bodyPr>
          <a:lstStyle/>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Ada Health. (2023). </a:t>
            </a:r>
            <a:r>
              <a:rPr lang="vi-VN" sz="3000" b="1" i="1" dirty="0">
                <a:solidFill>
                  <a:schemeClr val="bg1"/>
                </a:solidFill>
                <a:effectLst/>
                <a:latin typeface="K2D" pitchFamily="2" charset="-34"/>
                <a:ea typeface="SimSun" panose="02010600030101010101" pitchFamily="2" charset="-122"/>
                <a:cs typeface="K2D" pitchFamily="2" charset="-34"/>
              </a:rPr>
              <a:t>AI symptom assessment application</a:t>
            </a:r>
            <a:r>
              <a:rPr lang="vi-VN" sz="3000" b="1" dirty="0">
                <a:solidFill>
                  <a:schemeClr val="bg1"/>
                </a:solidFill>
                <a:effectLst/>
                <a:latin typeface="K2D" pitchFamily="2" charset="-34"/>
                <a:ea typeface="SimSun" panose="02010600030101010101" pitchFamily="2" charset="-122"/>
                <a:cs typeface="K2D" pitchFamily="2" charset="-34"/>
              </a:rPr>
              <a:t>. Ada Health GmbH.</a:t>
            </a:r>
            <a:endParaRPr lang="en-VN" sz="3000" b="1" dirty="0">
              <a:solidFill>
                <a:schemeClr val="bg1"/>
              </a:solidFill>
              <a:effectLst/>
              <a:latin typeface="K2D" pitchFamily="2" charset="-34"/>
              <a:ea typeface="SimSun" panose="02010600030101010101" pitchFamily="2" charset="-122"/>
              <a:cs typeface="K2D" pitchFamily="2" charset="-34"/>
            </a:endParaRPr>
          </a:p>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ChatGPT. (2024). </a:t>
            </a:r>
            <a:r>
              <a:rPr lang="vi-VN" sz="3000" b="1" i="1" dirty="0">
                <a:solidFill>
                  <a:schemeClr val="bg1"/>
                </a:solidFill>
                <a:effectLst/>
                <a:latin typeface="K2D" pitchFamily="2" charset="-34"/>
                <a:ea typeface="SimSun" panose="02010600030101010101" pitchFamily="2" charset="-122"/>
                <a:cs typeface="K2D" pitchFamily="2" charset="-34"/>
              </a:rPr>
              <a:t>AI tool for health information and support</a:t>
            </a:r>
            <a:r>
              <a:rPr lang="vi-VN" sz="3000" b="1" dirty="0">
                <a:solidFill>
                  <a:schemeClr val="bg1"/>
                </a:solidFill>
                <a:effectLst/>
                <a:latin typeface="K2D" pitchFamily="2" charset="-34"/>
                <a:ea typeface="SimSun" panose="02010600030101010101" pitchFamily="2" charset="-122"/>
                <a:cs typeface="K2D" pitchFamily="2" charset="-34"/>
              </a:rPr>
              <a:t>. OpenAI.</a:t>
            </a:r>
            <a:endParaRPr lang="en-VN" sz="3000" b="1" dirty="0">
              <a:solidFill>
                <a:schemeClr val="bg1"/>
              </a:solidFill>
              <a:effectLst/>
              <a:latin typeface="K2D" pitchFamily="2" charset="-34"/>
              <a:ea typeface="SimSun" panose="02010600030101010101" pitchFamily="2" charset="-122"/>
              <a:cs typeface="K2D" pitchFamily="2" charset="-34"/>
            </a:endParaRPr>
          </a:p>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Gemini. (2024). </a:t>
            </a:r>
            <a:r>
              <a:rPr lang="vi-VN" sz="3000" b="1" i="1" dirty="0">
                <a:solidFill>
                  <a:schemeClr val="bg1"/>
                </a:solidFill>
                <a:effectLst/>
                <a:latin typeface="K2D" pitchFamily="2" charset="-34"/>
                <a:ea typeface="SimSun" panose="02010600030101010101" pitchFamily="2" charset="-122"/>
                <a:cs typeface="K2D" pitchFamily="2" charset="-34"/>
              </a:rPr>
              <a:t>AI-powered information retrieval system</a:t>
            </a:r>
            <a:r>
              <a:rPr lang="vi-VN" sz="3000" b="1" dirty="0">
                <a:solidFill>
                  <a:schemeClr val="bg1"/>
                </a:solidFill>
                <a:effectLst/>
                <a:latin typeface="K2D" pitchFamily="2" charset="-34"/>
                <a:ea typeface="SimSun" panose="02010600030101010101" pitchFamily="2" charset="-122"/>
                <a:cs typeface="K2D" pitchFamily="2" charset="-34"/>
              </a:rPr>
              <a:t>. Google.</a:t>
            </a:r>
            <a:endParaRPr lang="en-VN" sz="3000" b="1" dirty="0">
              <a:solidFill>
                <a:schemeClr val="bg1"/>
              </a:solidFill>
              <a:effectLst/>
              <a:latin typeface="K2D" pitchFamily="2" charset="-34"/>
              <a:ea typeface="SimSun" panose="02010600030101010101" pitchFamily="2" charset="-122"/>
              <a:cs typeface="K2D" pitchFamily="2" charset="-34"/>
            </a:endParaRPr>
          </a:p>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Nghiên cứu đăng trên PubMed (2025) đánh giá độ chính xác của ChatGPT và Gemini trong lĩnh vực dược lý </a:t>
            </a:r>
            <a:endParaRPr lang="en-VN" sz="3000" b="1" dirty="0">
              <a:solidFill>
                <a:schemeClr val="bg1"/>
              </a:solidFill>
              <a:effectLst/>
              <a:latin typeface="K2D" pitchFamily="2" charset="-34"/>
              <a:ea typeface="SimSun" panose="02010600030101010101" pitchFamily="2" charset="-122"/>
              <a:cs typeface="K2D" pitchFamily="2" charset="-34"/>
            </a:endParaRPr>
          </a:p>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Nghiên cứu ScienceDirect (2025) về ứng dụng chatbot AI trong giáo dục bệnh nhân </a:t>
            </a:r>
            <a:endParaRPr lang="en-VN" sz="3000" b="1" dirty="0">
              <a:solidFill>
                <a:schemeClr val="bg1"/>
              </a:solidFill>
              <a:effectLst/>
              <a:latin typeface="K2D" pitchFamily="2" charset="-34"/>
              <a:ea typeface="SimSun" panose="02010600030101010101" pitchFamily="2" charset="-122"/>
              <a:cs typeface="K2D" pitchFamily="2" charset="-34"/>
            </a:endParaRPr>
          </a:p>
          <a:p>
            <a:pPr>
              <a:spcBef>
                <a:spcPts val="300"/>
              </a:spcBef>
              <a:spcAft>
                <a:spcPts val="300"/>
              </a:spcAft>
            </a:pPr>
            <a:r>
              <a:rPr lang="vi-VN" sz="3000" b="1" dirty="0">
                <a:solidFill>
                  <a:schemeClr val="bg1"/>
                </a:solidFill>
                <a:effectLst/>
                <a:latin typeface="K2D" pitchFamily="2" charset="-34"/>
                <a:ea typeface="SimSun" panose="02010600030101010101" pitchFamily="2" charset="-122"/>
                <a:cs typeface="K2D" pitchFamily="2" charset="-34"/>
              </a:rPr>
              <a:t>Báo cáo từ KFF về vai trò của chatbot AI trong cung cấp thông tin sức khỏe </a:t>
            </a:r>
            <a:endParaRPr lang="en-VN" sz="3000" b="1" dirty="0">
              <a:solidFill>
                <a:schemeClr val="bg1"/>
              </a:solidFill>
              <a:effectLst/>
              <a:latin typeface="K2D" pitchFamily="2" charset="-34"/>
              <a:ea typeface="SimSun" panose="02010600030101010101" pitchFamily="2" charset="-122"/>
              <a:cs typeface="K2D" pitchFamily="2" charset="-34"/>
            </a:endParaRPr>
          </a:p>
          <a:p>
            <a:r>
              <a:rPr lang="en-US" sz="3000" b="1" dirty="0" err="1">
                <a:solidFill>
                  <a:schemeClr val="bg1"/>
                </a:solidFill>
                <a:effectLst/>
                <a:latin typeface="K2D" pitchFamily="2" charset="-34"/>
                <a:ea typeface="Times New Roman" panose="02020603050405020304" pitchFamily="18" charset="0"/>
                <a:cs typeface="K2D" pitchFamily="2" charset="-34"/>
              </a:rPr>
              <a:t>Bài</a:t>
            </a:r>
            <a:r>
              <a:rPr lang="en-US" sz="3000" b="1" dirty="0">
                <a:solidFill>
                  <a:schemeClr val="bg1"/>
                </a:solidFill>
                <a:effectLst/>
                <a:latin typeface="K2D" pitchFamily="2" charset="-34"/>
                <a:ea typeface="Times New Roman" panose="02020603050405020304" pitchFamily="18" charset="0"/>
                <a:cs typeface="K2D" pitchFamily="2" charset="-34"/>
              </a:rPr>
              <a:t> </a:t>
            </a:r>
            <a:r>
              <a:rPr lang="en-US" sz="3000" b="1" dirty="0" err="1">
                <a:solidFill>
                  <a:schemeClr val="bg1"/>
                </a:solidFill>
                <a:effectLst/>
                <a:latin typeface="K2D" pitchFamily="2" charset="-34"/>
                <a:ea typeface="Times New Roman" panose="02020603050405020304" pitchFamily="18" charset="0"/>
                <a:cs typeface="K2D" pitchFamily="2" charset="-34"/>
              </a:rPr>
              <a:t>báo</a:t>
            </a:r>
            <a:r>
              <a:rPr lang="en-US" sz="3000" b="1" dirty="0">
                <a:solidFill>
                  <a:schemeClr val="bg1"/>
                </a:solidFill>
                <a:effectLst/>
                <a:latin typeface="K2D" pitchFamily="2" charset="-34"/>
                <a:ea typeface="Times New Roman" panose="02020603050405020304" pitchFamily="18" charset="0"/>
                <a:cs typeface="K2D" pitchFamily="2" charset="-34"/>
              </a:rPr>
              <a:t> </a:t>
            </a:r>
            <a:r>
              <a:rPr lang="en-US" sz="3000" b="1" dirty="0" err="1">
                <a:solidFill>
                  <a:schemeClr val="bg1"/>
                </a:solidFill>
                <a:effectLst/>
                <a:latin typeface="K2D" pitchFamily="2" charset="-34"/>
                <a:ea typeface="Times New Roman" panose="02020603050405020304" pitchFamily="18" charset="0"/>
                <a:cs typeface="K2D" pitchFamily="2" charset="-34"/>
              </a:rPr>
              <a:t>về</a:t>
            </a:r>
            <a:r>
              <a:rPr lang="en-US" sz="3000" b="1" dirty="0">
                <a:solidFill>
                  <a:schemeClr val="bg1"/>
                </a:solidFill>
                <a:effectLst/>
                <a:latin typeface="K2D" pitchFamily="2" charset="-34"/>
                <a:ea typeface="Times New Roman" panose="02020603050405020304" pitchFamily="18" charset="0"/>
                <a:cs typeface="K2D" pitchFamily="2" charset="-34"/>
              </a:rPr>
              <a:t> xu </a:t>
            </a:r>
            <a:r>
              <a:rPr lang="en-US" sz="3000" b="1" dirty="0" err="1">
                <a:solidFill>
                  <a:schemeClr val="bg1"/>
                </a:solidFill>
                <a:effectLst/>
                <a:latin typeface="K2D" pitchFamily="2" charset="-34"/>
                <a:ea typeface="Times New Roman" panose="02020603050405020304" pitchFamily="18" charset="0"/>
                <a:cs typeface="K2D" pitchFamily="2" charset="-34"/>
              </a:rPr>
              <a:t>hướng</a:t>
            </a:r>
            <a:r>
              <a:rPr lang="en-US" sz="3000" b="1" dirty="0">
                <a:solidFill>
                  <a:schemeClr val="bg1"/>
                </a:solidFill>
                <a:effectLst/>
                <a:latin typeface="K2D" pitchFamily="2" charset="-34"/>
                <a:ea typeface="Times New Roman" panose="02020603050405020304" pitchFamily="18" charset="0"/>
                <a:cs typeface="K2D" pitchFamily="2" charset="-34"/>
              </a:rPr>
              <a:t> </a:t>
            </a:r>
            <a:r>
              <a:rPr lang="en-US" sz="3000" b="1" dirty="0" err="1">
                <a:solidFill>
                  <a:schemeClr val="bg1"/>
                </a:solidFill>
                <a:effectLst/>
                <a:latin typeface="K2D" pitchFamily="2" charset="-34"/>
                <a:ea typeface="Times New Roman" panose="02020603050405020304" pitchFamily="18" charset="0"/>
                <a:cs typeface="K2D" pitchFamily="2" charset="-34"/>
              </a:rPr>
              <a:t>sử</a:t>
            </a:r>
            <a:r>
              <a:rPr lang="en-US" sz="3000" b="1" dirty="0">
                <a:solidFill>
                  <a:schemeClr val="bg1"/>
                </a:solidFill>
                <a:effectLst/>
                <a:latin typeface="K2D" pitchFamily="2" charset="-34"/>
                <a:ea typeface="Times New Roman" panose="02020603050405020304" pitchFamily="18" charset="0"/>
                <a:cs typeface="K2D" pitchFamily="2" charset="-34"/>
              </a:rPr>
              <a:t> </a:t>
            </a:r>
            <a:r>
              <a:rPr lang="en-US" sz="3000" b="1" dirty="0" err="1">
                <a:solidFill>
                  <a:schemeClr val="bg1"/>
                </a:solidFill>
                <a:effectLst/>
                <a:latin typeface="K2D" pitchFamily="2" charset="-34"/>
                <a:ea typeface="Times New Roman" panose="02020603050405020304" pitchFamily="18" charset="0"/>
                <a:cs typeface="K2D" pitchFamily="2" charset="-34"/>
              </a:rPr>
              <a:t>dụng</a:t>
            </a:r>
            <a:r>
              <a:rPr lang="en-US" sz="3000" b="1" dirty="0">
                <a:solidFill>
                  <a:schemeClr val="bg1"/>
                </a:solidFill>
                <a:effectLst/>
                <a:latin typeface="K2D" pitchFamily="2" charset="-34"/>
                <a:ea typeface="Times New Roman" panose="02020603050405020304" pitchFamily="18" charset="0"/>
                <a:cs typeface="K2D" pitchFamily="2" charset="-34"/>
              </a:rPr>
              <a:t> AI </a:t>
            </a:r>
            <a:r>
              <a:rPr lang="en-US" sz="3000" b="1" dirty="0" err="1">
                <a:solidFill>
                  <a:schemeClr val="bg1"/>
                </a:solidFill>
                <a:effectLst/>
                <a:latin typeface="K2D" pitchFamily="2" charset="-34"/>
                <a:ea typeface="Times New Roman" panose="02020603050405020304" pitchFamily="18" charset="0"/>
                <a:cs typeface="K2D" pitchFamily="2" charset="-34"/>
              </a:rPr>
              <a:t>trong</a:t>
            </a:r>
            <a:r>
              <a:rPr lang="en-US" sz="3000" b="1" dirty="0">
                <a:solidFill>
                  <a:schemeClr val="bg1"/>
                </a:solidFill>
                <a:effectLst/>
                <a:latin typeface="K2D" pitchFamily="2" charset="-34"/>
                <a:ea typeface="Times New Roman" panose="02020603050405020304" pitchFamily="18" charset="0"/>
                <a:cs typeface="K2D" pitchFamily="2" charset="-34"/>
              </a:rPr>
              <a:t> y </a:t>
            </a:r>
            <a:r>
              <a:rPr lang="en-US" sz="3000" b="1" dirty="0" err="1">
                <a:solidFill>
                  <a:schemeClr val="bg1"/>
                </a:solidFill>
                <a:effectLst/>
                <a:latin typeface="K2D" pitchFamily="2" charset="-34"/>
                <a:ea typeface="Times New Roman" panose="02020603050405020304" pitchFamily="18" charset="0"/>
                <a:cs typeface="K2D" pitchFamily="2" charset="-34"/>
              </a:rPr>
              <a:t>tế</a:t>
            </a:r>
            <a:r>
              <a:rPr lang="en-US" sz="3000" b="1" dirty="0">
                <a:solidFill>
                  <a:schemeClr val="bg1"/>
                </a:solidFill>
                <a:effectLst/>
                <a:latin typeface="K2D" pitchFamily="2" charset="-34"/>
                <a:ea typeface="Times New Roman" panose="02020603050405020304" pitchFamily="18" charset="0"/>
                <a:cs typeface="K2D" pitchFamily="2" charset="-34"/>
              </a:rPr>
              <a:t> </a:t>
            </a:r>
            <a:r>
              <a:rPr lang="en-US" sz="3000" b="1" dirty="0" err="1">
                <a:solidFill>
                  <a:schemeClr val="bg1"/>
                </a:solidFill>
                <a:effectLst/>
                <a:latin typeface="K2D" pitchFamily="2" charset="-34"/>
                <a:ea typeface="Times New Roman" panose="02020603050405020304" pitchFamily="18" charset="0"/>
                <a:cs typeface="K2D" pitchFamily="2" charset="-34"/>
              </a:rPr>
              <a:t>hiện</a:t>
            </a:r>
            <a:r>
              <a:rPr lang="en-US" sz="3000" b="1" dirty="0">
                <a:solidFill>
                  <a:schemeClr val="bg1"/>
                </a:solidFill>
                <a:effectLst/>
                <a:latin typeface="K2D" pitchFamily="2" charset="-34"/>
                <a:ea typeface="Times New Roman" panose="02020603050405020304" pitchFamily="18" charset="0"/>
                <a:cs typeface="K2D" pitchFamily="2" charset="-34"/>
              </a:rPr>
              <a:t> nay </a:t>
            </a:r>
            <a:r>
              <a:rPr lang="en-VN" sz="3000" b="1" dirty="0">
                <a:solidFill>
                  <a:schemeClr val="bg1"/>
                </a:solidFill>
                <a:effectLst/>
                <a:latin typeface="K2D" pitchFamily="2" charset="-34"/>
                <a:cs typeface="K2D" pitchFamily="2" charset="-34"/>
              </a:rPr>
              <a:t> </a:t>
            </a:r>
            <a:endParaRPr lang="en-US" sz="3000" b="1" dirty="0">
              <a:solidFill>
                <a:schemeClr val="bg1"/>
              </a:solidFill>
              <a:latin typeface="K2D" pitchFamily="2" charset="-34"/>
              <a:ea typeface="Poppins Medium"/>
              <a:cs typeface="K2D" pitchFamily="2" charset="-34"/>
              <a:sym typeface="Poppins Medium"/>
            </a:endParaRPr>
          </a:p>
        </p:txBody>
      </p:sp>
      <p:sp>
        <p:nvSpPr>
          <p:cNvPr id="5" name="Freeform 5"/>
          <p:cNvSpPr/>
          <p:nvPr/>
        </p:nvSpPr>
        <p:spPr>
          <a:xfrm>
            <a:off x="2590162" y="2370406"/>
            <a:ext cx="1868198" cy="618204"/>
          </a:xfrm>
          <a:custGeom>
            <a:avLst/>
            <a:gdLst/>
            <a:ahLst/>
            <a:cxnLst/>
            <a:rect l="l" t="t" r="r" b="b"/>
            <a:pathLst>
              <a:path w="1868198" h="618204">
                <a:moveTo>
                  <a:pt x="0" y="0"/>
                </a:moveTo>
                <a:lnTo>
                  <a:pt x="1868197" y="0"/>
                </a:lnTo>
                <a:lnTo>
                  <a:pt x="1868197" y="618204"/>
                </a:lnTo>
                <a:lnTo>
                  <a:pt x="0" y="618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829641" y="2370406"/>
            <a:ext cx="1868198" cy="618204"/>
          </a:xfrm>
          <a:custGeom>
            <a:avLst/>
            <a:gdLst/>
            <a:ahLst/>
            <a:cxnLst/>
            <a:rect l="l" t="t" r="r" b="b"/>
            <a:pathLst>
              <a:path w="1868198" h="618204">
                <a:moveTo>
                  <a:pt x="0" y="0"/>
                </a:moveTo>
                <a:lnTo>
                  <a:pt x="1868197" y="0"/>
                </a:lnTo>
                <a:lnTo>
                  <a:pt x="1868197" y="618204"/>
                </a:lnTo>
                <a:lnTo>
                  <a:pt x="0" y="618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3757875" y="1450783"/>
            <a:ext cx="10772250" cy="1231106"/>
          </a:xfrm>
          <a:prstGeom prst="rect">
            <a:avLst/>
          </a:prstGeom>
        </p:spPr>
        <p:txBody>
          <a:bodyPr lIns="0" tIns="0" rIns="0" bIns="0" rtlCol="0" anchor="t">
            <a:spAutoFit/>
          </a:bodyPr>
          <a:lstStyle/>
          <a:p>
            <a:pPr algn="ctr">
              <a:lnSpc>
                <a:spcPts val="9600"/>
              </a:lnSpc>
            </a:pPr>
            <a:r>
              <a:rPr lang="en-US" sz="8000" b="1" dirty="0">
                <a:solidFill>
                  <a:schemeClr val="bg1"/>
                </a:solidFill>
                <a:latin typeface="K2D" pitchFamily="2" charset="-34"/>
                <a:ea typeface="League Spartan"/>
                <a:cs typeface="K2D" pitchFamily="2" charset="-34"/>
                <a:sym typeface="League Spartan"/>
              </a:rPr>
              <a:t>TÀI LIỆU THAM KHẢO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12F32"/>
        </a:solidFill>
        <a:effectLst/>
      </p:bgPr>
    </p:bg>
    <p:spTree>
      <p:nvGrpSpPr>
        <p:cNvPr id="1" name=""/>
        <p:cNvGrpSpPr/>
        <p:nvPr/>
      </p:nvGrpSpPr>
      <p:grpSpPr>
        <a:xfrm>
          <a:off x="0" y="0"/>
          <a:ext cx="0" cy="0"/>
          <a:chOff x="0" y="0"/>
          <a:chExt cx="0" cy="0"/>
        </a:xfrm>
      </p:grpSpPr>
      <p:sp>
        <p:nvSpPr>
          <p:cNvPr id="2" name="TextBox 2"/>
          <p:cNvSpPr txBox="1"/>
          <p:nvPr/>
        </p:nvSpPr>
        <p:spPr>
          <a:xfrm>
            <a:off x="2529492" y="726183"/>
            <a:ext cx="13193847" cy="8425383"/>
          </a:xfrm>
          <a:prstGeom prst="rect">
            <a:avLst/>
          </a:prstGeom>
        </p:spPr>
        <p:txBody>
          <a:bodyPr lIns="0" tIns="0" rIns="0" bIns="0" rtlCol="0" anchor="t">
            <a:spAutoFit/>
          </a:bodyPr>
          <a:lstStyle/>
          <a:p>
            <a:pPr algn="ctr">
              <a:lnSpc>
                <a:spcPts val="22757"/>
              </a:lnSpc>
            </a:pPr>
            <a:r>
              <a:rPr lang="en-US" sz="10000" b="1" dirty="0">
                <a:solidFill>
                  <a:srgbClr val="97517B"/>
                </a:solidFill>
                <a:latin typeface="Times New Roman" panose="02020603050405020304" pitchFamily="18" charset="0"/>
                <a:ea typeface="League Spartan"/>
                <a:cs typeface="Times New Roman" panose="02020603050405020304" pitchFamily="18" charset="0"/>
                <a:sym typeface="League Spartan"/>
              </a:rPr>
              <a:t>CẢM ƠN THẦY VÀ CÁC BẠN ĐÃ LẮNG NGHE</a:t>
            </a:r>
          </a:p>
        </p:txBody>
      </p:sp>
      <p:sp>
        <p:nvSpPr>
          <p:cNvPr id="3" name="Freeform 3"/>
          <p:cNvSpPr/>
          <p:nvPr/>
        </p:nvSpPr>
        <p:spPr>
          <a:xfrm>
            <a:off x="13862454" y="3571466"/>
            <a:ext cx="5051790" cy="7861360"/>
          </a:xfrm>
          <a:custGeom>
            <a:avLst/>
            <a:gdLst/>
            <a:ahLst/>
            <a:cxnLst/>
            <a:rect l="l" t="t" r="r" b="b"/>
            <a:pathLst>
              <a:path w="5051790" h="7861360">
                <a:moveTo>
                  <a:pt x="0" y="0"/>
                </a:moveTo>
                <a:lnTo>
                  <a:pt x="5051790" y="0"/>
                </a:lnTo>
                <a:lnTo>
                  <a:pt x="5051790" y="7861360"/>
                </a:lnTo>
                <a:lnTo>
                  <a:pt x="0" y="78613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626244" y="-1145826"/>
            <a:ext cx="5051790" cy="7861360"/>
          </a:xfrm>
          <a:custGeom>
            <a:avLst/>
            <a:gdLst/>
            <a:ahLst/>
            <a:cxnLst/>
            <a:rect l="l" t="t" r="r" b="b"/>
            <a:pathLst>
              <a:path w="5051790" h="7861360">
                <a:moveTo>
                  <a:pt x="5051790" y="7861360"/>
                </a:moveTo>
                <a:lnTo>
                  <a:pt x="0" y="7861360"/>
                </a:lnTo>
                <a:lnTo>
                  <a:pt x="0" y="0"/>
                </a:lnTo>
                <a:lnTo>
                  <a:pt x="5051790" y="0"/>
                </a:lnTo>
                <a:lnTo>
                  <a:pt x="5051790" y="786136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8209901" y="8842464"/>
            <a:ext cx="1868198" cy="618204"/>
          </a:xfrm>
          <a:custGeom>
            <a:avLst/>
            <a:gdLst/>
            <a:ahLst/>
            <a:cxnLst/>
            <a:rect l="l" t="t" r="r" b="b"/>
            <a:pathLst>
              <a:path w="1868198" h="618204">
                <a:moveTo>
                  <a:pt x="0" y="0"/>
                </a:moveTo>
                <a:lnTo>
                  <a:pt x="1868198" y="0"/>
                </a:lnTo>
                <a:lnTo>
                  <a:pt x="1868198" y="618204"/>
                </a:lnTo>
                <a:lnTo>
                  <a:pt x="0" y="618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6525278" y="913053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947307" y="-1541077"/>
            <a:ext cx="2617078" cy="2617078"/>
          </a:xfrm>
          <a:custGeom>
            <a:avLst/>
            <a:gdLst/>
            <a:ahLst/>
            <a:cxnLst/>
            <a:rect l="l" t="t" r="r" b="b"/>
            <a:pathLst>
              <a:path w="2617078" h="2617078">
                <a:moveTo>
                  <a:pt x="0" y="0"/>
                </a:moveTo>
                <a:lnTo>
                  <a:pt x="2617078" y="0"/>
                </a:lnTo>
                <a:lnTo>
                  <a:pt x="2617078" y="2617078"/>
                </a:lnTo>
                <a:lnTo>
                  <a:pt x="0" y="2617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1032</TotalTime>
  <Words>1403</Words>
  <Application>Microsoft Macintosh PowerPoint</Application>
  <PresentationFormat>Custom</PresentationFormat>
  <Paragraphs>66</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 Rounded MT Bold</vt:lpstr>
      <vt:lpstr>Times New Roman</vt:lpstr>
      <vt:lpstr>Poppins Medium</vt:lpstr>
      <vt:lpstr>Calibri</vt:lpstr>
      <vt:lpstr>K2D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Purple and Blue Illustration AI in the World of Energy Presentation</dc:title>
  <cp:lastModifiedBy>phuonghuynhoi0505zzz@gmail.com</cp:lastModifiedBy>
  <cp:revision>6</cp:revision>
  <dcterms:created xsi:type="dcterms:W3CDTF">2006-08-16T00:00:00Z</dcterms:created>
  <dcterms:modified xsi:type="dcterms:W3CDTF">2026-03-27T16:52:19Z</dcterms:modified>
  <dc:identifier>DAHE1OsE4wg</dc:identifier>
</cp:coreProperties>
</file>